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18288000" cy="10287000"/>
  <p:notesSz cx="6858000" cy="9144000"/>
  <p:embeddedFontLst>
    <p:embeddedFont>
      <p:font typeface="League Spartan" charset="1" panose="00000800000000000000"/>
      <p:regular r:id="rId45"/>
    </p:embeddedFont>
    <p:embeddedFont>
      <p:font typeface="Open Sans" charset="1" panose="020B0606030504020204"/>
      <p:regular r:id="rId46"/>
    </p:embeddedFont>
    <p:embeddedFont>
      <p:font typeface="Poppins Bold" charset="1" panose="00000800000000000000"/>
      <p:regular r:id="rId47"/>
    </p:embeddedFont>
    <p:embeddedFont>
      <p:font typeface="Poppins" charset="1" panose="00000500000000000000"/>
      <p:regular r:id="rId48"/>
    </p:embeddedFont>
    <p:embeddedFont>
      <p:font typeface="Canva Sans Bold" charset="1" panose="020B0803030501040103"/>
      <p:regular r:id="rId49"/>
    </p:embeddedFont>
    <p:embeddedFont>
      <p:font typeface="Canva Sans" charset="1" panose="020B0503030501040103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openclassrooms.com/en/paths/922/projects/1832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https://cloud.google.com" TargetMode="External" Type="http://schemas.openxmlformats.org/officeDocument/2006/relationships/hyperlink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https://building-energy-api-752730965616.europe-west1.run.app" TargetMode="External" Type="http://schemas.openxmlformats.org/officeDocument/2006/relationships/hyperlink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788792" y="7853524"/>
            <a:ext cx="87950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619702" y="7819008"/>
            <a:ext cx="87950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668298" y="7715566"/>
            <a:ext cx="294966" cy="294966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FAC0D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34777" y="2949911"/>
            <a:ext cx="14818445" cy="2808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88"/>
              </a:lnSpc>
            </a:pPr>
            <a:r>
              <a:rPr lang="en-US" b="true" sz="6332" spc="246" u="sng">
                <a:solidFill>
                  <a:srgbClr val="FCBF01"/>
                </a:solidFill>
                <a:latin typeface="League Spartan"/>
                <a:ea typeface="League Spartan"/>
                <a:cs typeface="League Spartan"/>
                <a:sym typeface="League Spartan"/>
                <a:hlinkClick r:id="rId2" tooltip="https://openclassrooms.com/en/paths/922/projects/1832"/>
              </a:rPr>
              <a:t>ANTICIPEZ LES BESOINS EN CONSOMMATION DE BÂTIMENTS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8298" y="7567726"/>
            <a:ext cx="4803920" cy="442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2624" spc="110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Motasem Abuaqlumboz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324735" y="7671525"/>
            <a:ext cx="294966" cy="294966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FAC0D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23496"/>
            <a:ext cx="16595799" cy="192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3037" b="true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 :</a:t>
            </a:r>
          </a:p>
          <a:p>
            <a:pPr algn="l">
              <a:lnSpc>
                <a:spcPts val="3692"/>
              </a:lnSpc>
            </a:pPr>
            <a:r>
              <a:rPr lang="en-US" sz="26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Dans le cadre des objectifs de neutralité carbone 2050 de la ville de Seattle, ce projet vise à prédire la consommation d’énergie et les émissions de CO₂ des bâtiments non résidentiels.</a:t>
            </a:r>
          </a:p>
          <a:p>
            <a:pPr algn="l">
              <a:lnSpc>
                <a:spcPts val="3412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548923"/>
            <a:ext cx="16347545" cy="5709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1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471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Client: </a:t>
            </a:r>
            <a:r>
              <a:rPr lang="en-US" sz="24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City of Seattle</a:t>
            </a:r>
          </a:p>
          <a:p>
            <a:pPr algn="l">
              <a:lnSpc>
                <a:spcPts val="3459"/>
              </a:lnSpc>
              <a:spcBef>
                <a:spcPct val="0"/>
              </a:spcBef>
            </a:pPr>
          </a:p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1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 Objectif: </a:t>
            </a:r>
          </a:p>
          <a:p>
            <a:pPr algn="l">
              <a:lnSpc>
                <a:spcPts val="3459"/>
              </a:lnSpc>
              <a:spcBef>
                <a:spcPct val="0"/>
              </a:spcBef>
            </a:pPr>
          </a:p>
          <a:p>
            <a:pPr algn="l" marL="533570" indent="-266785" lvl="1">
              <a:lnSpc>
                <a:spcPts val="3459"/>
              </a:lnSpc>
              <a:spcBef>
                <a:spcPct val="0"/>
              </a:spcBef>
              <a:buFont typeface="Arial"/>
              <a:buChar char="•"/>
            </a:pPr>
            <a:r>
              <a:rPr lang="en-US" sz="24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Développer un modèle de machine learning capable de prédire la consommation totale d’énergie et les émissions de CO₂ des bâtiments non résidentiels à Seattle, en utilisant uniquement des caractéristiques structurelles et d’usage (ex. : surface, type d’usage, année de construction).</a:t>
            </a:r>
          </a:p>
          <a:p>
            <a:pPr algn="l">
              <a:lnSpc>
                <a:spcPts val="3459"/>
              </a:lnSpc>
              <a:spcBef>
                <a:spcPct val="0"/>
              </a:spcBef>
            </a:pPr>
          </a:p>
          <a:p>
            <a:pPr algn="l" marL="533570" indent="-266785" lvl="1">
              <a:lnSpc>
                <a:spcPts val="3459"/>
              </a:lnSpc>
              <a:spcBef>
                <a:spcPct val="0"/>
              </a:spcBef>
              <a:buFont typeface="Arial"/>
              <a:buChar char="•"/>
            </a:pPr>
            <a:r>
              <a:rPr lang="en-US" sz="24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Cela permet à</a:t>
            </a:r>
            <a:r>
              <a:rPr lang="en-US" sz="24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 ville d’estimer la performance énergétique sans audits coûteux, de prioriser les efforts en matière d’efficacité énergétique et de soutenir ses objectifs climatiques pour 2050.</a:t>
            </a:r>
          </a:p>
          <a:p>
            <a:pPr algn="l">
              <a:lnSpc>
                <a:spcPts val="3459"/>
              </a:lnSpc>
              <a:spcBef>
                <a:spcPct val="0"/>
              </a:spcBef>
            </a:pPr>
          </a:p>
          <a:p>
            <a:pPr algn="l" marL="533570" indent="-266785" lvl="1">
              <a:lnSpc>
                <a:spcPts val="3459"/>
              </a:lnSpc>
              <a:spcBef>
                <a:spcPct val="0"/>
              </a:spcBef>
              <a:buFont typeface="Arial"/>
              <a:buChar char="•"/>
            </a:pPr>
            <a:r>
              <a:rPr lang="en-US" sz="24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</a:t>
            </a:r>
            <a:r>
              <a:rPr lang="en-US" sz="24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 ce cadre, nous évaluons également si le ENERGYSTARScore reste une variable utile à collecter pour les audits futurs.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75288"/>
            <a:ext cx="4455298" cy="7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2"/>
              </a:lnSpc>
              <a:spcBef>
                <a:spcPct val="0"/>
              </a:spcBef>
            </a:pPr>
            <a:r>
              <a:rPr lang="en-US" b="true" sz="3944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62911" y="1160728"/>
            <a:ext cx="4844588" cy="8868059"/>
          </a:xfrm>
          <a:custGeom>
            <a:avLst/>
            <a:gdLst/>
            <a:ahLst/>
            <a:cxnLst/>
            <a:rect r="r" b="b" t="t" l="l"/>
            <a:pathLst>
              <a:path h="8868059" w="4844588">
                <a:moveTo>
                  <a:pt x="0" y="0"/>
                </a:moveTo>
                <a:lnTo>
                  <a:pt x="4844588" y="0"/>
                </a:lnTo>
                <a:lnTo>
                  <a:pt x="4844588" y="8868059"/>
                </a:lnTo>
                <a:lnTo>
                  <a:pt x="0" y="8868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7418"/>
            <a:ext cx="13547527" cy="66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9"/>
              </a:lnSpc>
              <a:spcBef>
                <a:spcPct val="0"/>
              </a:spcBef>
            </a:pPr>
            <a:r>
              <a:rPr lang="en-US" b="true" sz="3163" spc="123">
                <a:solidFill>
                  <a:srgbClr val="FCBF0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DATASET OVERVIEW – SEATTLE BUILDING ENERGY USE (2016)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83054"/>
            <a:ext cx="9968598" cy="430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450" b="true">
                <a:solidFill>
                  <a:srgbClr val="FCBF0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Source</a:t>
            </a:r>
            <a:r>
              <a:rPr lang="en-US" sz="24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City of Seattle, 2016</a:t>
            </a:r>
          </a:p>
          <a:p>
            <a:pPr algn="l">
              <a:lnSpc>
                <a:spcPts val="3431"/>
              </a:lnSpc>
            </a:pPr>
          </a:p>
          <a:p>
            <a:pPr algn="l">
              <a:lnSpc>
                <a:spcPts val="3431"/>
              </a:lnSpc>
            </a:pPr>
            <a:r>
              <a:rPr lang="en-US" sz="2450" b="true">
                <a:solidFill>
                  <a:srgbClr val="FCBF0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Scope</a:t>
            </a:r>
            <a:r>
              <a:rPr lang="en-US" sz="24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3 376 bâtiments au total </a:t>
            </a:r>
            <a:r>
              <a:rPr lang="en-US" sz="24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(résidentiels + non résidentiels)</a:t>
            </a:r>
          </a:p>
          <a:p>
            <a:pPr algn="l">
              <a:lnSpc>
                <a:spcPts val="3431"/>
              </a:lnSpc>
            </a:pPr>
          </a:p>
          <a:p>
            <a:pPr algn="l">
              <a:lnSpc>
                <a:spcPts val="3431"/>
              </a:lnSpc>
            </a:pPr>
            <a:r>
              <a:rPr lang="en-US" sz="2450" b="true">
                <a:solidFill>
                  <a:srgbClr val="FCBF0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Energy Metrics (targets):</a:t>
            </a:r>
          </a:p>
          <a:p>
            <a:pPr algn="l" marL="1058234" indent="-352745" lvl="2">
              <a:lnSpc>
                <a:spcPts val="3431"/>
              </a:lnSpc>
              <a:buFont typeface="Arial"/>
              <a:buChar char="⚬"/>
            </a:pPr>
            <a:r>
              <a:rPr lang="en-US" sz="24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SiteEnergyUse(kBtu)</a:t>
            </a:r>
          </a:p>
          <a:p>
            <a:pPr algn="l" marL="1058234" indent="-352745" lvl="2">
              <a:lnSpc>
                <a:spcPts val="3431"/>
              </a:lnSpc>
              <a:buFont typeface="Arial"/>
              <a:buChar char="⚬"/>
            </a:pPr>
            <a:r>
              <a:rPr lang="en-US" sz="24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TotalGHGEmissions</a:t>
            </a:r>
          </a:p>
          <a:p>
            <a:pPr algn="l">
              <a:lnSpc>
                <a:spcPts val="3431"/>
              </a:lnSpc>
            </a:pPr>
          </a:p>
          <a:p>
            <a:pPr algn="l">
              <a:lnSpc>
                <a:spcPts val="3431"/>
              </a:lnSpc>
            </a:pPr>
            <a:r>
              <a:rPr lang="en-US" sz="2450" b="true">
                <a:solidFill>
                  <a:srgbClr val="FCBF0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ENERGYSTARScore</a:t>
            </a:r>
            <a:r>
              <a:rPr lang="en-US" sz="2450">
                <a:solidFill>
                  <a:srgbClr val="FCBF01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  <a:r>
              <a:rPr lang="en-US" sz="24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utilisé comme variable d’entrée afin d’évaluer son impact prédictif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3382" y="367708"/>
            <a:ext cx="9505556" cy="660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44"/>
              </a:lnSpc>
              <a:spcBef>
                <a:spcPct val="0"/>
              </a:spcBef>
            </a:pPr>
            <a:r>
              <a:rPr lang="en-US" b="true" sz="3745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Filtering &amp; Cleaning Summary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3545" y="1212034"/>
            <a:ext cx="16239722" cy="794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9702" indent="-209851" lvl="1">
              <a:lnSpc>
                <a:spcPts val="4859"/>
              </a:lnSpc>
              <a:buFont typeface="Arial"/>
              <a:buChar char="•"/>
            </a:pPr>
            <a:r>
              <a:rPr lang="en-US" b="true" sz="1943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Suppr</a:t>
            </a:r>
            <a:r>
              <a:rPr lang="en-US" b="true" sz="1943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ession de 1 708 bâtiments résidentiels → </a:t>
            </a:r>
            <a:r>
              <a:rPr lang="en-US" sz="19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1 668 bâtiments non résidentiels conservés.</a:t>
            </a:r>
          </a:p>
          <a:p>
            <a:pPr algn="l" marL="419702" indent="-209851" lvl="1">
              <a:lnSpc>
                <a:spcPts val="4859"/>
              </a:lnSpc>
              <a:buFont typeface="Arial"/>
              <a:buChar char="•"/>
            </a:pPr>
            <a:r>
              <a:rPr lang="en-US" b="true" sz="1943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Aucune ligne dupliquée détectée.</a:t>
            </a:r>
          </a:p>
          <a:p>
            <a:pPr algn="l" marL="419702" indent="-209851" lvl="1">
              <a:lnSpc>
                <a:spcPts val="4859"/>
              </a:lnSpc>
              <a:buFont typeface="Arial"/>
              <a:buChar char="•"/>
            </a:pPr>
            <a:r>
              <a:rPr lang="en-US" b="true" sz="1943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Suppression des colonnes avec 99–100 % de valeurs manquantes : </a:t>
            </a:r>
            <a:r>
              <a:rPr lang="en-US" sz="19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Comments, Outlier, etc.</a:t>
            </a:r>
          </a:p>
          <a:p>
            <a:pPr algn="l" marL="419702" indent="-209851" lvl="1">
              <a:lnSpc>
                <a:spcPts val="4859"/>
              </a:lnSpc>
              <a:buFont typeface="Arial"/>
              <a:buChar char="•"/>
            </a:pPr>
            <a:r>
              <a:rPr lang="en-US" b="true" sz="1943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ENERGYSTARScore avait ~5 % de valeurs manquantes → </a:t>
            </a:r>
            <a:r>
              <a:rPr lang="en-US" sz="19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lignes sans valeur supprimées (843 lignes supprimées).</a:t>
            </a:r>
          </a:p>
          <a:p>
            <a:pPr algn="l" marL="419702" indent="-209851" lvl="1">
              <a:lnSpc>
                <a:spcPts val="4859"/>
              </a:lnSpc>
              <a:buFont typeface="Arial"/>
              <a:buChar char="•"/>
            </a:pPr>
            <a:r>
              <a:rPr lang="en-US" b="true" sz="1943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Suppression des types d’usage secondaires/tertiaires (&gt;50 % de valeurs manquantes).</a:t>
            </a:r>
          </a:p>
          <a:p>
            <a:pPr algn="l" marL="419702" indent="-209851" lvl="1">
              <a:lnSpc>
                <a:spcPts val="4859"/>
              </a:lnSpc>
              <a:buFont typeface="Arial"/>
              <a:buChar char="•"/>
            </a:pPr>
            <a:r>
              <a:rPr lang="en-US" b="true" sz="1943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Suppression des colonnes non informatives :</a:t>
            </a:r>
            <a:r>
              <a:rPr lang="en-US" b="true" sz="194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9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City, ZipCode, State, DataYear, CouncilDistrictCode, etc.</a:t>
            </a:r>
          </a:p>
          <a:p>
            <a:pPr algn="l" marL="419702" indent="-209851" lvl="1">
              <a:lnSpc>
                <a:spcPts val="4859"/>
              </a:lnSpc>
              <a:buFont typeface="Arial"/>
              <a:buChar char="•"/>
            </a:pPr>
            <a:r>
              <a:rPr lang="en-US" b="true" sz="1943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Suppression de Electricity(kWh) et NaturalGas(therms) :</a:t>
            </a:r>
          </a:p>
          <a:p>
            <a:pPr algn="l" marL="419702" indent="-209851" lvl="1">
              <a:lnSpc>
                <a:spcPts val="4859"/>
              </a:lnSpc>
              <a:buFont typeface="Arial"/>
              <a:buChar char="•"/>
            </a:pPr>
            <a:r>
              <a:rPr lang="en-US" b="true" sz="1943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➝ </a:t>
            </a:r>
            <a:r>
              <a:rPr lang="en-US" b="true" sz="194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unités converties, causant de la multicolinéarité.</a:t>
            </a:r>
          </a:p>
          <a:p>
            <a:pPr algn="l" marL="419702" indent="-209851" lvl="1">
              <a:lnSpc>
                <a:spcPts val="4859"/>
              </a:lnSpc>
              <a:buFont typeface="Arial"/>
              <a:buChar char="•"/>
            </a:pPr>
            <a:r>
              <a:rPr lang="en-US" b="true" sz="194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 kWh = 3.412 kBtu</a:t>
            </a:r>
          </a:p>
          <a:p>
            <a:pPr algn="l" marL="419702" indent="-209851" lvl="1">
              <a:lnSpc>
                <a:spcPts val="4859"/>
              </a:lnSpc>
              <a:buFont typeface="Arial"/>
              <a:buChar char="•"/>
            </a:pPr>
            <a:r>
              <a:rPr lang="en-US" b="true" sz="194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 therm = 99.976129 kBtu</a:t>
            </a:r>
          </a:p>
          <a:p>
            <a:pPr algn="l" marL="419702" indent="-209851" lvl="1">
              <a:lnSpc>
                <a:spcPts val="4859"/>
              </a:lnSpc>
              <a:buFont typeface="Arial"/>
              <a:buChar char="•"/>
            </a:pPr>
            <a:r>
              <a:rPr lang="en-US" b="true" sz="1943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kBtu = 1 000 British Thermal Units →</a:t>
            </a:r>
            <a:r>
              <a:rPr lang="en-US" sz="1943">
                <a:solidFill>
                  <a:srgbClr val="FCBF0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utilisé comme unité standard pour l’analyse énergétique.</a:t>
            </a:r>
          </a:p>
          <a:p>
            <a:pPr algn="l" marL="419702" indent="-209851" lvl="1">
              <a:lnSpc>
                <a:spcPts val="4859"/>
              </a:lnSpc>
              <a:buFont typeface="Arial"/>
              <a:buChar char="•"/>
            </a:pPr>
            <a:r>
              <a:rPr lang="en-US" b="true" sz="1943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Suppression des colonnes WN (ex. : SiteEUIWN) → </a:t>
            </a:r>
            <a:r>
              <a:rPr lang="en-US" sz="19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très corrélées aux variables de base, pas d’apport informatif supplémentaire</a:t>
            </a:r>
            <a:r>
              <a:rPr lang="en-US" b="true" sz="1943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algn="l" marL="419702" indent="-209851" lvl="1">
              <a:lnSpc>
                <a:spcPts val="4859"/>
              </a:lnSpc>
              <a:buFont typeface="Arial"/>
              <a:buChar char="•"/>
            </a:pPr>
            <a:r>
              <a:rPr lang="en-US" b="true" sz="1943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Suppression des lignes avec ComplianceStatus différent de "Compliant" → </a:t>
            </a:r>
            <a:r>
              <a:rPr lang="en-US" sz="19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garantit une qualité de données fiable.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4546493"/>
            <a:ext cx="8493889" cy="4711807"/>
          </a:xfrm>
          <a:custGeom>
            <a:avLst/>
            <a:gdLst/>
            <a:ahLst/>
            <a:cxnLst/>
            <a:rect r="r" b="b" t="t" l="l"/>
            <a:pathLst>
              <a:path h="4711807" w="8493889">
                <a:moveTo>
                  <a:pt x="0" y="0"/>
                </a:moveTo>
                <a:lnTo>
                  <a:pt x="8493889" y="0"/>
                </a:lnTo>
                <a:lnTo>
                  <a:pt x="8493889" y="4711807"/>
                </a:lnTo>
                <a:lnTo>
                  <a:pt x="0" y="47118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628" y="4546493"/>
            <a:ext cx="8368598" cy="4711807"/>
          </a:xfrm>
          <a:custGeom>
            <a:avLst/>
            <a:gdLst/>
            <a:ahLst/>
            <a:cxnLst/>
            <a:rect r="r" b="b" t="t" l="l"/>
            <a:pathLst>
              <a:path h="4711807" w="8368598">
                <a:moveTo>
                  <a:pt x="0" y="0"/>
                </a:moveTo>
                <a:lnTo>
                  <a:pt x="8368598" y="0"/>
                </a:lnTo>
                <a:lnTo>
                  <a:pt x="8368598" y="4711807"/>
                </a:lnTo>
                <a:lnTo>
                  <a:pt x="0" y="47118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098568"/>
            <a:ext cx="15916931" cy="879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3"/>
              </a:lnSpc>
              <a:spcBef>
                <a:spcPct val="0"/>
              </a:spcBef>
            </a:pPr>
            <a:r>
              <a:rPr lang="en-US" sz="24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Les types de propriétés comme les hôpitaux et les centres de données consomment en moyenne beaucoup plus d’énergie et génèrent également les plus fortes émissions de GHG.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6858" y="445208"/>
            <a:ext cx="6962180" cy="583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9"/>
              </a:lnSpc>
              <a:spcBef>
                <a:spcPct val="0"/>
              </a:spcBef>
            </a:pPr>
            <a:r>
              <a:rPr lang="en-US" b="true" sz="3277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EDA -  Exploratory Data Analysis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06474"/>
            <a:ext cx="13009296" cy="49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6"/>
              </a:lnSpc>
              <a:spcBef>
                <a:spcPct val="0"/>
              </a:spcBef>
            </a:pPr>
            <a:r>
              <a:rPr lang="en-US" b="true" sz="2718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Average Site Energy Use (kBtu) &amp; GHG Emissions </a:t>
            </a:r>
            <a:r>
              <a:rPr lang="en-US" b="true" sz="2718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par type de propriété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524446"/>
            <a:ext cx="16230600" cy="4847539"/>
          </a:xfrm>
          <a:custGeom>
            <a:avLst/>
            <a:gdLst/>
            <a:ahLst/>
            <a:cxnLst/>
            <a:rect r="r" b="b" t="t" l="l"/>
            <a:pathLst>
              <a:path h="4847539" w="16230600">
                <a:moveTo>
                  <a:pt x="0" y="0"/>
                </a:moveTo>
                <a:lnTo>
                  <a:pt x="16230600" y="0"/>
                </a:lnTo>
                <a:lnTo>
                  <a:pt x="16230600" y="4847539"/>
                </a:lnTo>
                <a:lnTo>
                  <a:pt x="0" y="4847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1689" y="542055"/>
            <a:ext cx="13162880" cy="583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9"/>
              </a:lnSpc>
              <a:spcBef>
                <a:spcPct val="0"/>
              </a:spcBef>
            </a:pPr>
            <a:r>
              <a:rPr lang="en-US" b="true" sz="3277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Utilisation d’énergie vs. émissions selon le score ENERGY STAR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1033" y="1694416"/>
            <a:ext cx="16645934" cy="2194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4974" indent="-267487" lvl="1">
              <a:lnSpc>
                <a:spcPts val="3469"/>
              </a:lnSpc>
              <a:buFont typeface="Arial"/>
              <a:buChar char="•"/>
            </a:pPr>
            <a:r>
              <a:rPr lang="en-US" sz="24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Les scores ENERGY STAR les plus élevés (points plus foncés) se trouvent principalement dans les bâtiments à faibles émissions et faible consommation d’énergie.</a:t>
            </a:r>
          </a:p>
          <a:p>
            <a:pPr algn="l">
              <a:lnSpc>
                <a:spcPts val="3469"/>
              </a:lnSpc>
            </a:pPr>
          </a:p>
          <a:p>
            <a:pPr algn="l" marL="534974" indent="-267487" lvl="1">
              <a:lnSpc>
                <a:spcPts val="3469"/>
              </a:lnSpc>
              <a:buFont typeface="Arial"/>
              <a:buChar char="•"/>
            </a:pPr>
            <a:r>
              <a:rPr lang="en-US" sz="24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Cela met en évidence sa valeur comme indicateur d’efficacité énergétique et justifie son inclusion comme variable prédictive.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0089" y="242911"/>
            <a:ext cx="14302053" cy="1222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36"/>
              </a:lnSpc>
              <a:spcBef>
                <a:spcPct val="0"/>
              </a:spcBef>
            </a:pPr>
            <a:r>
              <a:rPr lang="en-US" b="true" sz="3811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Détection et Suppression des Valeurs Aberrantes</a:t>
            </a:r>
          </a:p>
          <a:p>
            <a:pPr algn="just">
              <a:lnSpc>
                <a:spcPts val="4263"/>
              </a:lnSpc>
              <a:spcBef>
                <a:spcPct val="0"/>
              </a:spcBef>
            </a:pPr>
            <a:r>
              <a:rPr lang="en-US" b="true" sz="3045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Gér</a:t>
            </a:r>
            <a:r>
              <a:rPr lang="en-US" b="true" sz="3045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er les Distributions Skewed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3506" y="7098028"/>
            <a:ext cx="16569190" cy="278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0430" indent="-250215" lvl="1">
              <a:lnSpc>
                <a:spcPts val="5655"/>
              </a:lnSpc>
              <a:buFont typeface="Arial"/>
              <a:buChar char="•"/>
            </a:pPr>
            <a:r>
              <a:rPr lang="en-US" sz="23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Les deux variables cibles sont fortement skewed avec des valeurs extrêmes.</a:t>
            </a:r>
          </a:p>
          <a:p>
            <a:pPr algn="l" marL="500430" indent="-250215" lvl="1">
              <a:lnSpc>
                <a:spcPts val="5655"/>
              </a:lnSpc>
              <a:buFont typeface="Arial"/>
              <a:buChar char="•"/>
            </a:pPr>
            <a:r>
              <a:rPr lang="en-US" sz="23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Filtrage a</a:t>
            </a:r>
            <a:r>
              <a:rPr lang="en-US" sz="23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ppliqué à l’aide de l’IQR (Interquartile Range) sur SiteEnergyUse et TotalGHGEmissions.</a:t>
            </a:r>
          </a:p>
          <a:p>
            <a:pPr algn="l" marL="500430" indent="-250215" lvl="1">
              <a:lnSpc>
                <a:spcPts val="5655"/>
              </a:lnSpc>
              <a:buFont typeface="Arial"/>
              <a:buChar char="•"/>
            </a:pPr>
            <a:r>
              <a:rPr lang="en-US" sz="23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Suppression des outliers pour stabiliser la variance, améliorer les performances du modèle, et réduire le biais.</a:t>
            </a:r>
          </a:p>
          <a:p>
            <a:pPr algn="l">
              <a:lnSpc>
                <a:spcPts val="5655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75180" y="1852725"/>
            <a:ext cx="6440090" cy="4958869"/>
          </a:xfrm>
          <a:custGeom>
            <a:avLst/>
            <a:gdLst/>
            <a:ahLst/>
            <a:cxnLst/>
            <a:rect r="r" b="b" t="t" l="l"/>
            <a:pathLst>
              <a:path h="4958869" w="6440090">
                <a:moveTo>
                  <a:pt x="0" y="0"/>
                </a:moveTo>
                <a:lnTo>
                  <a:pt x="6440090" y="0"/>
                </a:lnTo>
                <a:lnTo>
                  <a:pt x="6440090" y="4958870"/>
                </a:lnTo>
                <a:lnTo>
                  <a:pt x="0" y="4958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262442" y="1852725"/>
            <a:ext cx="6755207" cy="4913895"/>
          </a:xfrm>
          <a:custGeom>
            <a:avLst/>
            <a:gdLst/>
            <a:ahLst/>
            <a:cxnLst/>
            <a:rect r="r" b="b" t="t" l="l"/>
            <a:pathLst>
              <a:path h="4913895" w="6755207">
                <a:moveTo>
                  <a:pt x="0" y="0"/>
                </a:moveTo>
                <a:lnTo>
                  <a:pt x="6755207" y="0"/>
                </a:lnTo>
                <a:lnTo>
                  <a:pt x="6755207" y="4913895"/>
                </a:lnTo>
                <a:lnTo>
                  <a:pt x="0" y="49138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15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20260" y="1650708"/>
            <a:ext cx="8792966" cy="5726419"/>
          </a:xfrm>
          <a:custGeom>
            <a:avLst/>
            <a:gdLst/>
            <a:ahLst/>
            <a:cxnLst/>
            <a:rect r="r" b="b" t="t" l="l"/>
            <a:pathLst>
              <a:path h="5726419" w="8792966">
                <a:moveTo>
                  <a:pt x="0" y="0"/>
                </a:moveTo>
                <a:lnTo>
                  <a:pt x="8792966" y="0"/>
                </a:lnTo>
                <a:lnTo>
                  <a:pt x="8792966" y="5726419"/>
                </a:lnTo>
                <a:lnTo>
                  <a:pt x="0" y="5726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26871"/>
            <a:ext cx="10812661" cy="952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0"/>
              </a:lnSpc>
              <a:spcBef>
                <a:spcPct val="0"/>
              </a:spcBef>
            </a:pPr>
            <a:r>
              <a:rPr lang="en-US" b="true" sz="3135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3135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ransformation Logarithmique des Cibles</a:t>
            </a:r>
          </a:p>
          <a:p>
            <a:pPr algn="l">
              <a:lnSpc>
                <a:spcPts val="2990"/>
              </a:lnSpc>
              <a:spcBef>
                <a:spcPct val="0"/>
              </a:spcBef>
            </a:pPr>
            <a:r>
              <a:rPr lang="en-US" b="true" sz="2135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Une log transformation a été appliquée pour corriger la skewness des targets.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2907" y="7519678"/>
            <a:ext cx="16807671" cy="2143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936" indent="-323968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Les performances des modèles seront comparées avec et sans transformation logarithmique.</a:t>
            </a:r>
          </a:p>
          <a:p>
            <a:pPr algn="l" marL="647936" indent="-323968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Objectif : évaluer si cette transformation améliore la précision et la robustesse des prédictions.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32659" y="634601"/>
            <a:ext cx="13008322" cy="66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6"/>
              </a:lnSpc>
              <a:spcBef>
                <a:spcPct val="0"/>
              </a:spcBef>
            </a:pPr>
            <a:r>
              <a:rPr lang="en-US" b="true" sz="3683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Engineering - Création de Nouvelles Variables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0183" y="1961394"/>
            <a:ext cx="16126641" cy="630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235" indent="-313118" lvl="1">
              <a:lnSpc>
                <a:spcPts val="7251"/>
              </a:lnSpc>
              <a:buFont typeface="Arial"/>
              <a:buChar char="•"/>
            </a:pPr>
            <a:r>
              <a:rPr lang="en-US" b="true" sz="2900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Création de ratios des sources d’énergie :</a:t>
            </a:r>
          </a:p>
          <a:p>
            <a:pPr algn="l">
              <a:lnSpc>
                <a:spcPts val="7251"/>
              </a:lnSpc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</a:t>
            </a: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SteamRatio, ElectricityRatio, NaturalGasRatio (évite le leakage)</a:t>
            </a:r>
            <a:r>
              <a:rPr lang="en-US" b="true" sz="2900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algn="l" marL="626235" indent="-313118" lvl="1">
              <a:lnSpc>
                <a:spcPts val="7251"/>
              </a:lnSpc>
              <a:buFont typeface="Arial"/>
              <a:buChar char="•"/>
            </a:pPr>
            <a:r>
              <a:rPr lang="en-US" b="true" sz="2900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Création de ratios de surface :</a:t>
            </a:r>
          </a:p>
          <a:p>
            <a:pPr algn="l">
              <a:lnSpc>
                <a:spcPts val="7251"/>
              </a:lnSpc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</a:t>
            </a: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SurfacePerBuilding, SurfacePerFloor, ParkingRatio, BuildingRatio.</a:t>
            </a:r>
          </a:p>
          <a:p>
            <a:pPr algn="l" marL="626235" indent="-313118" lvl="1">
              <a:lnSpc>
                <a:spcPts val="7251"/>
              </a:lnSpc>
              <a:buFont typeface="Arial"/>
              <a:buChar char="•"/>
            </a:pPr>
            <a:r>
              <a:rPr lang="en-US" b="true" sz="2900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Extraction de l’âge du bâtiment :</a:t>
            </a:r>
          </a:p>
          <a:p>
            <a:pPr algn="l">
              <a:lnSpc>
                <a:spcPts val="7251"/>
              </a:lnSpc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</a:t>
            </a: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building_age = 2025 - YearBuilt.</a:t>
            </a:r>
          </a:p>
          <a:p>
            <a:pPr algn="l">
              <a:lnSpc>
                <a:spcPts val="7251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95236" y="1338875"/>
            <a:ext cx="9564064" cy="8260960"/>
          </a:xfrm>
          <a:custGeom>
            <a:avLst/>
            <a:gdLst/>
            <a:ahLst/>
            <a:cxnLst/>
            <a:rect r="r" b="b" t="t" l="l"/>
            <a:pathLst>
              <a:path h="8260960" w="9564064">
                <a:moveTo>
                  <a:pt x="0" y="0"/>
                </a:moveTo>
                <a:lnTo>
                  <a:pt x="9564064" y="0"/>
                </a:lnTo>
                <a:lnTo>
                  <a:pt x="9564064" y="8260960"/>
                </a:lnTo>
                <a:lnTo>
                  <a:pt x="0" y="8260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90280"/>
            <a:ext cx="9251660" cy="73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1"/>
              </a:lnSpc>
              <a:spcBef>
                <a:spcPct val="0"/>
              </a:spcBef>
            </a:pPr>
            <a:r>
              <a:rPr lang="en-US" b="true" sz="4108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Analyse de </a:t>
            </a:r>
            <a:r>
              <a:rPr lang="en-US" b="true" sz="4108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Corrélation – Heatmap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25657"/>
            <a:ext cx="6444285" cy="5796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2"/>
              </a:lnSpc>
              <a:spcBef>
                <a:spcPct val="0"/>
              </a:spcBef>
            </a:pPr>
            <a:r>
              <a:rPr lang="en-US" b="true" sz="20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Cette</a:t>
            </a:r>
            <a:r>
              <a:rPr lang="en-US" b="true" sz="20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heatmap montre comment les variables numériques sont liées entre elles et avec les targets.</a:t>
            </a:r>
          </a:p>
          <a:p>
            <a:pPr algn="l">
              <a:lnSpc>
                <a:spcPts val="2852"/>
              </a:lnSpc>
              <a:spcBef>
                <a:spcPct val="0"/>
              </a:spcBef>
            </a:pPr>
          </a:p>
          <a:p>
            <a:pPr algn="l" marL="439897" indent="-219948" lvl="1">
              <a:lnSpc>
                <a:spcPts val="2852"/>
              </a:lnSpc>
              <a:spcBef>
                <a:spcPct val="0"/>
              </a:spcBef>
              <a:buFont typeface="Arial"/>
              <a:buChar char="•"/>
            </a:pPr>
            <a:r>
              <a:rPr lang="en-US" sz="20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Elle permet de détecter la multicolinéarité et de sélectionner les prédicteurs les plus pertinents.</a:t>
            </a:r>
          </a:p>
          <a:p>
            <a:pPr algn="l">
              <a:lnSpc>
                <a:spcPts val="2852"/>
              </a:lnSpc>
              <a:spcBef>
                <a:spcPct val="0"/>
              </a:spcBef>
            </a:pPr>
          </a:p>
          <a:p>
            <a:pPr algn="l" marL="439897" indent="-219948" lvl="1">
              <a:lnSpc>
                <a:spcPts val="2852"/>
              </a:lnSpc>
              <a:spcBef>
                <a:spcPct val="0"/>
              </a:spcBef>
              <a:buFont typeface="Arial"/>
              <a:buChar char="•"/>
            </a:pPr>
            <a:r>
              <a:rPr lang="en-US" sz="20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ENERGYSTARScore présente une forte corrélation négative avec la consommation d’énergie et les émissions.</a:t>
            </a:r>
          </a:p>
          <a:p>
            <a:pPr algn="l">
              <a:lnSpc>
                <a:spcPts val="2852"/>
              </a:lnSpc>
              <a:spcBef>
                <a:spcPct val="0"/>
              </a:spcBef>
            </a:pPr>
          </a:p>
          <a:p>
            <a:pPr algn="l" marL="439897" indent="-219948" lvl="1">
              <a:lnSpc>
                <a:spcPts val="2852"/>
              </a:lnSpc>
              <a:spcBef>
                <a:spcPct val="0"/>
              </a:spcBef>
              <a:buFont typeface="Arial"/>
              <a:buChar char="•"/>
            </a:pPr>
            <a:r>
              <a:rPr lang="en-US" sz="20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 ratios comme SteamRatio, ElectricityRatio et SurfacePerFloor révèlent également des schémas intéressants.</a:t>
            </a:r>
          </a:p>
          <a:p>
            <a:pPr algn="l">
              <a:lnSpc>
                <a:spcPts val="28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05110" y="1832667"/>
            <a:ext cx="7024623" cy="7254992"/>
          </a:xfrm>
          <a:custGeom>
            <a:avLst/>
            <a:gdLst/>
            <a:ahLst/>
            <a:cxnLst/>
            <a:rect r="r" b="b" t="t" l="l"/>
            <a:pathLst>
              <a:path h="7254992" w="7024623">
                <a:moveTo>
                  <a:pt x="0" y="0"/>
                </a:moveTo>
                <a:lnTo>
                  <a:pt x="7024623" y="0"/>
                </a:lnTo>
                <a:lnTo>
                  <a:pt x="7024623" y="7254992"/>
                </a:lnTo>
                <a:lnTo>
                  <a:pt x="0" y="7254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689" r="-5263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948956"/>
            <a:ext cx="8957725" cy="359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6"/>
              </a:lnSpc>
              <a:spcBef>
                <a:spcPct val="0"/>
              </a:spcBef>
            </a:pPr>
            <a:r>
              <a:rPr lang="en-US" b="true" sz="2290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Le</a:t>
            </a:r>
            <a:r>
              <a:rPr lang="en-US" b="true" sz="2290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 Dataset  final contient 21 variables</a:t>
            </a:r>
          </a:p>
          <a:p>
            <a:pPr algn="l">
              <a:lnSpc>
                <a:spcPts val="3206"/>
              </a:lnSpc>
              <a:spcBef>
                <a:spcPct val="0"/>
              </a:spcBef>
            </a:pPr>
          </a:p>
          <a:p>
            <a:pPr algn="l" marL="494524" indent="-247262" lvl="1">
              <a:lnSpc>
                <a:spcPts val="3206"/>
              </a:lnSpc>
              <a:spcBef>
                <a:spcPct val="0"/>
              </a:spcBef>
              <a:buFont typeface="Arial"/>
              <a:buChar char="•"/>
            </a:pPr>
            <a:r>
              <a:rPr lang="en-US" sz="22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 ratios comme SteamRatio, ElectricityRatio, ParkingRatio , etc .</a:t>
            </a:r>
          </a:p>
          <a:p>
            <a:pPr algn="l">
              <a:lnSpc>
                <a:spcPts val="3206"/>
              </a:lnSpc>
              <a:spcBef>
                <a:spcPct val="0"/>
              </a:spcBef>
            </a:pPr>
          </a:p>
          <a:p>
            <a:pPr algn="l" marL="494524" indent="-247262" lvl="1">
              <a:lnSpc>
                <a:spcPts val="3206"/>
              </a:lnSpc>
              <a:spcBef>
                <a:spcPct val="0"/>
              </a:spcBef>
              <a:buFont typeface="Arial"/>
              <a:buChar char="•"/>
            </a:pPr>
            <a:r>
              <a:rPr lang="en-US" sz="22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 caractéristiques structurelles telles que NumberofFloors, SurfacePerFloor, building_age, etc .</a:t>
            </a:r>
          </a:p>
          <a:p>
            <a:pPr algn="l">
              <a:lnSpc>
                <a:spcPts val="3206"/>
              </a:lnSpc>
              <a:spcBef>
                <a:spcPct val="0"/>
              </a:spcBef>
            </a:pPr>
          </a:p>
          <a:p>
            <a:pPr algn="l">
              <a:lnSpc>
                <a:spcPts val="3206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58867"/>
            <a:ext cx="11909971" cy="977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3"/>
              </a:lnSpc>
              <a:spcBef>
                <a:spcPct val="0"/>
              </a:spcBef>
            </a:pPr>
            <a:r>
              <a:rPr lang="en-US" b="true" sz="5381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Final pour le Modélisation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5070" y="4524655"/>
            <a:ext cx="16337860" cy="115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9"/>
              </a:lnSpc>
              <a:spcBef>
                <a:spcPct val="0"/>
              </a:spcBef>
            </a:pPr>
            <a:r>
              <a:rPr lang="en-US" b="true" sz="3277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Supervised Machine Learning pour la Prédiction de l'Énergie et des Émissions</a:t>
            </a:r>
          </a:p>
          <a:p>
            <a:pPr algn="ctr">
              <a:lnSpc>
                <a:spcPts val="4589"/>
              </a:lnSpc>
              <a:spcBef>
                <a:spcPct val="0"/>
              </a:spcBef>
            </a:pPr>
            <a:r>
              <a:rPr lang="en-US" b="true" sz="3277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(Regression Modeling)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09565" y="1296142"/>
            <a:ext cx="7549735" cy="8388594"/>
          </a:xfrm>
          <a:custGeom>
            <a:avLst/>
            <a:gdLst/>
            <a:ahLst/>
            <a:cxnLst/>
            <a:rect r="r" b="b" t="t" l="l"/>
            <a:pathLst>
              <a:path h="8388594" w="7549735">
                <a:moveTo>
                  <a:pt x="0" y="0"/>
                </a:moveTo>
                <a:lnTo>
                  <a:pt x="7549735" y="0"/>
                </a:lnTo>
                <a:lnTo>
                  <a:pt x="7549735" y="8388594"/>
                </a:lnTo>
                <a:lnTo>
                  <a:pt x="0" y="83885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23095" y="3071221"/>
            <a:ext cx="8421029" cy="558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5"/>
              </a:lnSpc>
              <a:spcBef>
                <a:spcPct val="0"/>
              </a:spcBef>
            </a:pPr>
            <a:r>
              <a:rPr lang="en-US" b="true" sz="2446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Target:</a:t>
            </a:r>
            <a:r>
              <a:rPr lang="en-US" sz="24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SiteEnergyUse(kBtu) (consommation totale d’énergie)</a:t>
            </a:r>
          </a:p>
          <a:p>
            <a:pPr algn="l">
              <a:lnSpc>
                <a:spcPts val="3425"/>
              </a:lnSpc>
              <a:spcBef>
                <a:spcPct val="0"/>
              </a:spcBef>
            </a:pPr>
            <a:r>
              <a:rPr lang="en-US" b="true" sz="2446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Modèles testés : </a:t>
            </a:r>
            <a:r>
              <a:rPr lang="en-US" sz="24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Linear Regression, Ridge, Decision Tree, Random Forest, Gradient Boosting</a:t>
            </a:r>
          </a:p>
          <a:p>
            <a:pPr algn="l">
              <a:lnSpc>
                <a:spcPts val="3425"/>
              </a:lnSpc>
              <a:spcBef>
                <a:spcPct val="0"/>
              </a:spcBef>
            </a:pPr>
          </a:p>
          <a:p>
            <a:pPr algn="l">
              <a:lnSpc>
                <a:spcPts val="3425"/>
              </a:lnSpc>
              <a:spcBef>
                <a:spcPct val="0"/>
              </a:spcBef>
            </a:pPr>
            <a:r>
              <a:rPr lang="en-US" b="true" sz="2446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Preprocessing pipeline:</a:t>
            </a:r>
          </a:p>
          <a:p>
            <a:pPr algn="l">
              <a:lnSpc>
                <a:spcPts val="3425"/>
              </a:lnSpc>
              <a:spcBef>
                <a:spcPct val="0"/>
              </a:spcBef>
            </a:pPr>
          </a:p>
          <a:p>
            <a:pPr algn="l" marL="528279" indent="-264139" lvl="1">
              <a:lnSpc>
                <a:spcPts val="3425"/>
              </a:lnSpc>
              <a:spcBef>
                <a:spcPct val="0"/>
              </a:spcBef>
              <a:buFont typeface="Arial"/>
              <a:buChar char="•"/>
            </a:pPr>
            <a:r>
              <a:rPr lang="en-US" sz="24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Standardisation des variables numériques</a:t>
            </a:r>
          </a:p>
          <a:p>
            <a:pPr algn="l" marL="528279" indent="-264139" lvl="1">
              <a:lnSpc>
                <a:spcPts val="3425"/>
              </a:lnSpc>
              <a:spcBef>
                <a:spcPct val="0"/>
              </a:spcBef>
              <a:buFont typeface="Arial"/>
              <a:buChar char="•"/>
            </a:pPr>
            <a:r>
              <a:rPr lang="en-US" sz="244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Encodage one-hot des variables catégorielles</a:t>
            </a:r>
          </a:p>
          <a:p>
            <a:pPr algn="l">
              <a:lnSpc>
                <a:spcPts val="3425"/>
              </a:lnSpc>
              <a:spcBef>
                <a:spcPct val="0"/>
              </a:spcBef>
            </a:pPr>
          </a:p>
          <a:p>
            <a:pPr algn="l">
              <a:lnSpc>
                <a:spcPts val="3425"/>
              </a:lnSpc>
              <a:spcBef>
                <a:spcPct val="0"/>
              </a:spcBef>
            </a:pPr>
          </a:p>
          <a:p>
            <a:pPr algn="l">
              <a:lnSpc>
                <a:spcPts val="3425"/>
              </a:lnSpc>
              <a:spcBef>
                <a:spcPct val="0"/>
              </a:spcBef>
            </a:pPr>
            <a:r>
              <a:rPr lang="en-US" b="true" sz="2446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Métriques d’évaluation : </a:t>
            </a:r>
            <a:r>
              <a:rPr lang="en-US" b="true" sz="244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R²,  RMSE,  MAE,  MAPE, Time</a:t>
            </a:r>
          </a:p>
          <a:p>
            <a:pPr algn="l">
              <a:lnSpc>
                <a:spcPts val="3425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87727"/>
            <a:ext cx="12357424" cy="617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4"/>
              </a:lnSpc>
              <a:spcBef>
                <a:spcPct val="0"/>
              </a:spcBef>
            </a:pPr>
            <a:r>
              <a:rPr lang="en-US" b="true" sz="3432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Supervi</a:t>
            </a:r>
            <a:r>
              <a:rPr lang="en-US" b="true" sz="3432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sed ML Modeling: SiteEnergyUse (kBtu)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489255"/>
            <a:ext cx="8317536" cy="12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b="true" sz="2313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Prédiction de la Consommation Énergétique avec des Modèles Supervisés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43946" y="5490417"/>
            <a:ext cx="9872516" cy="4652423"/>
          </a:xfrm>
          <a:custGeom>
            <a:avLst/>
            <a:gdLst/>
            <a:ahLst/>
            <a:cxnLst/>
            <a:rect r="r" b="b" t="t" l="l"/>
            <a:pathLst>
              <a:path h="4652423" w="9872516">
                <a:moveTo>
                  <a:pt x="0" y="0"/>
                </a:moveTo>
                <a:lnTo>
                  <a:pt x="9872516" y="0"/>
                </a:lnTo>
                <a:lnTo>
                  <a:pt x="9872516" y="4652423"/>
                </a:lnTo>
                <a:lnTo>
                  <a:pt x="0" y="46524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74135"/>
            <a:ext cx="14227448" cy="62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b="true" sz="3530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Impact de la Feature Engineeringsur la Prédiction Énergétique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283639"/>
            <a:ext cx="10043220" cy="451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b="true" sz="2468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Engineering améliore-t-elle la précision des modèles?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803645"/>
            <a:ext cx="6956673" cy="1174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4"/>
              </a:lnSpc>
            </a:pPr>
            <a:r>
              <a:rPr lang="en-US" b="true" sz="2465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Amélioration légère des performances :</a:t>
            </a:r>
          </a:p>
          <a:p>
            <a:pPr algn="l" marL="532385" indent="-266193" lvl="1">
              <a:lnSpc>
                <a:spcPts val="4734"/>
              </a:lnSpc>
              <a:buFont typeface="Arial"/>
              <a:buChar char="•"/>
            </a:pPr>
            <a:r>
              <a:rPr lang="en-US" sz="246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Gradient Boosting: R² = 0.82, MAPE = 33.1%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157150"/>
            <a:ext cx="16506268" cy="98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6"/>
              </a:lnSpc>
            </a:pPr>
            <a:r>
              <a:rPr lang="en-US" sz="23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 engineering a légèrement amélioré le MAPE, notamment pour le modèle Gradient Boosting, tandis que les autres métriques sont restées stables ou ont légèrement baissé à cause de la complexité ajoutée.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062820"/>
            <a:ext cx="11103114" cy="405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sz="23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 ratios (sources d’énergie, surface) et l’âge du bâtiment ont été ajoutés.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55303" y="5877664"/>
            <a:ext cx="13525887" cy="3008239"/>
          </a:xfrm>
          <a:custGeom>
            <a:avLst/>
            <a:gdLst/>
            <a:ahLst/>
            <a:cxnLst/>
            <a:rect r="r" b="b" t="t" l="l"/>
            <a:pathLst>
              <a:path h="3008239" w="13525887">
                <a:moveTo>
                  <a:pt x="0" y="0"/>
                </a:moveTo>
                <a:lnTo>
                  <a:pt x="13525887" y="0"/>
                </a:lnTo>
                <a:lnTo>
                  <a:pt x="13525887" y="3008238"/>
                </a:lnTo>
                <a:lnTo>
                  <a:pt x="0" y="3008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1812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15555"/>
            <a:ext cx="16476762" cy="66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6"/>
              </a:lnSpc>
              <a:spcBef>
                <a:spcPct val="0"/>
              </a:spcBef>
            </a:pPr>
            <a:r>
              <a:rPr lang="en-US" b="true" sz="3747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Transformation Logarithmique : Améliore-t-elle les Performances 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451300"/>
            <a:ext cx="9157082" cy="45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6"/>
              </a:lnSpc>
              <a:spcBef>
                <a:spcPct val="0"/>
              </a:spcBef>
            </a:pPr>
            <a:r>
              <a:rPr lang="en-US" b="true" sz="2525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Impact de la transformation log de la Energy Use Target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4555" y="2174030"/>
            <a:ext cx="16658891" cy="3513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1806" indent="-270903" lvl="1">
              <a:lnSpc>
                <a:spcPts val="4667"/>
              </a:lnSpc>
              <a:buFont typeface="Arial"/>
              <a:buChar char="•"/>
            </a:pPr>
            <a:r>
              <a:rPr lang="en-US" b="true" sz="2509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log1p(SiteEnergyUse(kBtu)) </a:t>
            </a:r>
            <a:r>
              <a:rPr lang="en-US" b="true" sz="250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→</a:t>
            </a:r>
            <a:r>
              <a:rPr lang="en-US" sz="25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corrige la distribution skewée et réduit l’effet des valeurs extrêmes.</a:t>
            </a:r>
          </a:p>
          <a:p>
            <a:pPr algn="l" marL="541806" indent="-270903" lvl="1">
              <a:lnSpc>
                <a:spcPts val="4667"/>
              </a:lnSpc>
              <a:buFont typeface="Arial"/>
              <a:buChar char="•"/>
            </a:pPr>
            <a:r>
              <a:rPr lang="en-US" b="true" sz="2509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Meilleur modèle </a:t>
            </a:r>
            <a:r>
              <a:rPr lang="en-US" b="true" sz="250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25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Gradient Boosting (log Target)</a:t>
            </a:r>
          </a:p>
          <a:p>
            <a:pPr algn="l" marL="541806" indent="-270903" lvl="1">
              <a:lnSpc>
                <a:spcPts val="4667"/>
              </a:lnSpc>
              <a:buFont typeface="Arial"/>
              <a:buChar char="•"/>
            </a:pPr>
            <a:r>
              <a:rPr lang="en-US" b="true" sz="2509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R²</a:t>
            </a:r>
            <a:r>
              <a:rPr lang="en-US" b="true" sz="250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: </a:t>
            </a:r>
            <a:r>
              <a:rPr lang="en-US" sz="25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0.83</a:t>
            </a:r>
          </a:p>
          <a:p>
            <a:pPr algn="l" marL="541806" indent="-270903" lvl="1">
              <a:lnSpc>
                <a:spcPts val="4667"/>
              </a:lnSpc>
              <a:buFont typeface="Arial"/>
              <a:buChar char="•"/>
            </a:pPr>
            <a:r>
              <a:rPr lang="en-US" b="true" sz="2509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MAPE</a:t>
            </a:r>
            <a:r>
              <a:rPr lang="en-US" b="true" sz="250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: </a:t>
            </a:r>
            <a:r>
              <a:rPr lang="en-US" sz="25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27.9%</a:t>
            </a:r>
          </a:p>
          <a:p>
            <a:pPr algn="l" marL="541806" indent="-270903" lvl="1">
              <a:lnSpc>
                <a:spcPts val="4667"/>
              </a:lnSpc>
              <a:buFont typeface="Arial"/>
              <a:buChar char="•"/>
            </a:pPr>
            <a:r>
              <a:rPr lang="en-US" sz="25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Baisse importante de l’erreur en pourcentage (MAPE), indiquant une meilleure stabilité des prédictions.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77836" y="2673811"/>
            <a:ext cx="8913586" cy="6317504"/>
          </a:xfrm>
          <a:custGeom>
            <a:avLst/>
            <a:gdLst/>
            <a:ahLst/>
            <a:cxnLst/>
            <a:rect r="r" b="b" t="t" l="l"/>
            <a:pathLst>
              <a:path h="6317504" w="8913586">
                <a:moveTo>
                  <a:pt x="0" y="0"/>
                </a:moveTo>
                <a:lnTo>
                  <a:pt x="8913586" y="0"/>
                </a:lnTo>
                <a:lnTo>
                  <a:pt x="8913586" y="6317504"/>
                </a:lnTo>
                <a:lnTo>
                  <a:pt x="0" y="63175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16448"/>
            <a:ext cx="11707490" cy="62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b="true" sz="3530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Optimisation du Modèle : Gradient Boosting Tuning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45937"/>
            <a:ext cx="8952181" cy="39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2"/>
              </a:lnSpc>
              <a:spcBef>
                <a:spcPct val="0"/>
              </a:spcBef>
            </a:pPr>
            <a:r>
              <a:rPr lang="en-US" b="true" sz="2294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Fine-Tuning Gradient Boosting pour une meilleure précision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11886"/>
            <a:ext cx="7687626" cy="6413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043" b="true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Tu</a:t>
            </a:r>
            <a:r>
              <a:rPr lang="en-US" b="true" sz="2043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ned Gradient Boosting (Log + Top Features)</a:t>
            </a:r>
          </a:p>
          <a:p>
            <a:pPr algn="l">
              <a:lnSpc>
                <a:spcPts val="3923"/>
              </a:lnSpc>
            </a:pPr>
          </a:p>
          <a:p>
            <a:pPr algn="l" marL="441153" indent="-220577" lvl="1">
              <a:lnSpc>
                <a:spcPts val="3923"/>
              </a:lnSpc>
              <a:buFont typeface="Arial"/>
              <a:buChar char="•"/>
            </a:pPr>
            <a:r>
              <a:rPr lang="en-US" b="true" sz="2043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Tuned n_estimators, max_depth, and learning_rate.</a:t>
            </a:r>
          </a:p>
          <a:p>
            <a:pPr algn="l">
              <a:lnSpc>
                <a:spcPts val="3923"/>
              </a:lnSpc>
            </a:pPr>
          </a:p>
          <a:p>
            <a:pPr algn="l" marL="441153" indent="-220577" lvl="1">
              <a:lnSpc>
                <a:spcPts val="3923"/>
              </a:lnSpc>
              <a:buFont typeface="Arial"/>
              <a:buChar char="•"/>
            </a:pPr>
            <a:r>
              <a:rPr lang="en-US" b="true" sz="2043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Utilisati</a:t>
            </a:r>
            <a:r>
              <a:rPr lang="en-US" b="true" sz="2043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on uniquement des 6 features les plus importantes</a:t>
            </a:r>
          </a:p>
          <a:p>
            <a:pPr algn="l">
              <a:lnSpc>
                <a:spcPts val="3923"/>
              </a:lnSpc>
            </a:pPr>
          </a:p>
          <a:p>
            <a:pPr algn="l" marL="441153" indent="-220577" lvl="1">
              <a:lnSpc>
                <a:spcPts val="3923"/>
              </a:lnSpc>
              <a:buFont typeface="Arial"/>
              <a:buChar char="•"/>
            </a:pPr>
            <a:r>
              <a:rPr lang="en-US" b="true" sz="2043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2043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erformance finale :</a:t>
            </a:r>
          </a:p>
          <a:p>
            <a:pPr algn="l" marL="882307" indent="-294102" lvl="2">
              <a:lnSpc>
                <a:spcPts val="3923"/>
              </a:lnSpc>
              <a:buFont typeface="Arial"/>
              <a:buChar char="⚬"/>
            </a:pPr>
            <a:r>
              <a:rPr lang="en-US" b="true" sz="2043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R²: 0.85</a:t>
            </a:r>
          </a:p>
          <a:p>
            <a:pPr algn="l" marL="882307" indent="-294102" lvl="2">
              <a:lnSpc>
                <a:spcPts val="3923"/>
              </a:lnSpc>
              <a:buFont typeface="Arial"/>
              <a:buChar char="⚬"/>
            </a:pPr>
            <a:r>
              <a:rPr lang="en-US" b="true" sz="2043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MAPE: 26.5% (best so far)</a:t>
            </a:r>
          </a:p>
          <a:p>
            <a:pPr algn="l">
              <a:lnSpc>
                <a:spcPts val="3923"/>
              </a:lnSpc>
            </a:pPr>
          </a:p>
          <a:p>
            <a:pPr algn="l">
              <a:lnSpc>
                <a:spcPts val="3923"/>
              </a:lnSpc>
            </a:pPr>
            <a:r>
              <a:rPr lang="en-US" b="true" sz="2043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Le m</a:t>
            </a:r>
            <a:r>
              <a:rPr lang="en-US" b="true" sz="2043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odèle le plus efficace et léger pour un déploiement en production.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34550" y="2467349"/>
            <a:ext cx="8359435" cy="6694001"/>
          </a:xfrm>
          <a:custGeom>
            <a:avLst/>
            <a:gdLst/>
            <a:ahLst/>
            <a:cxnLst/>
            <a:rect r="r" b="b" t="t" l="l"/>
            <a:pathLst>
              <a:path h="6694001" w="8359435">
                <a:moveTo>
                  <a:pt x="0" y="0"/>
                </a:moveTo>
                <a:lnTo>
                  <a:pt x="8359435" y="0"/>
                </a:lnTo>
                <a:lnTo>
                  <a:pt x="8359435" y="6694000"/>
                </a:lnTo>
                <a:lnTo>
                  <a:pt x="0" y="669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27" t="0" r="-829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04011"/>
            <a:ext cx="4693816" cy="62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b="true" sz="3530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Importance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220563"/>
            <a:ext cx="15692832" cy="96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4"/>
              </a:lnSpc>
            </a:pPr>
            <a:r>
              <a:rPr lang="en-US" b="true" sz="2717">
                <a:solidFill>
                  <a:srgbClr val="F9C041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importances</a:t>
            </a:r>
            <a:r>
              <a:rPr lang="en-US" b="true" sz="271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 ont été extraites à l'aide de  (  </a:t>
            </a:r>
            <a:r>
              <a:rPr lang="en-US" b="true" sz="2717">
                <a:solidFill>
                  <a:srgbClr val="10BF5B"/>
                </a:solidFill>
                <a:latin typeface="Poppins Bold"/>
                <a:ea typeface="Poppins Bold"/>
                <a:cs typeface="Poppins Bold"/>
                <a:sym typeface="Poppins Bold"/>
              </a:rPr>
              <a:t>.feature_importances_</a:t>
            </a:r>
            <a:r>
              <a:rPr lang="en-US" b="true" sz="271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   ) du  tuned Gradient Boosting Regressor.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9266" y="3639232"/>
            <a:ext cx="8205850" cy="475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8025" indent="-284012" lvl="1">
              <a:lnSpc>
                <a:spcPts val="368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30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Top features</a:t>
            </a:r>
            <a:r>
              <a:rPr lang="en-US" sz="263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: PropertyGFATotal, ENERGYSTARScore, ElectricityRatio.</a:t>
            </a:r>
          </a:p>
          <a:p>
            <a:pPr algn="l">
              <a:lnSpc>
                <a:spcPts val="3683"/>
              </a:lnSpc>
              <a:spcBef>
                <a:spcPct val="0"/>
              </a:spcBef>
            </a:pPr>
          </a:p>
          <a:p>
            <a:pPr algn="l" marL="568025" indent="-284012" lvl="1">
              <a:lnSpc>
                <a:spcPts val="3683"/>
              </a:lnSpc>
              <a:spcBef>
                <a:spcPct val="0"/>
              </a:spcBef>
              <a:buFont typeface="Arial"/>
              <a:buChar char="•"/>
            </a:pPr>
            <a:r>
              <a:rPr lang="en-US" sz="263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La taille du bâtiment et son efficacité énergétique sont les principaux facteurs explicatifs.</a:t>
            </a:r>
          </a:p>
          <a:p>
            <a:pPr algn="l">
              <a:lnSpc>
                <a:spcPts val="3683"/>
              </a:lnSpc>
              <a:spcBef>
                <a:spcPct val="0"/>
              </a:spcBef>
            </a:pPr>
          </a:p>
          <a:p>
            <a:pPr algn="l" marL="611204" indent="-305602" lvl="1">
              <a:lnSpc>
                <a:spcPts val="3963"/>
              </a:lnSpc>
              <a:spcBef>
                <a:spcPct val="0"/>
              </a:spcBef>
              <a:buFont typeface="Arial"/>
              <a:buChar char="•"/>
            </a:pPr>
            <a:r>
              <a:rPr lang="en-US" sz="283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ENERGYSTARScore joue un rôle essentiel dans la performance du modèle.</a:t>
            </a:r>
          </a:p>
          <a:p>
            <a:pPr algn="l">
              <a:lnSpc>
                <a:spcPts val="396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99234" y="2389339"/>
            <a:ext cx="8621099" cy="5991664"/>
          </a:xfrm>
          <a:custGeom>
            <a:avLst/>
            <a:gdLst/>
            <a:ahLst/>
            <a:cxnLst/>
            <a:rect r="r" b="b" t="t" l="l"/>
            <a:pathLst>
              <a:path h="5991664" w="8621099">
                <a:moveTo>
                  <a:pt x="0" y="0"/>
                </a:moveTo>
                <a:lnTo>
                  <a:pt x="8621099" y="0"/>
                </a:lnTo>
                <a:lnTo>
                  <a:pt x="8621099" y="5991664"/>
                </a:lnTo>
                <a:lnTo>
                  <a:pt x="0" y="5991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21506"/>
            <a:ext cx="8874398" cy="5261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  <a:spcBef>
                <a:spcPct val="0"/>
              </a:spcBef>
            </a:pPr>
            <a:r>
              <a:rPr lang="en-US" b="true" sz="2477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Modèle final </a:t>
            </a:r>
            <a:r>
              <a:rPr lang="en-US" b="true" sz="247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4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Top Features + Tuning = Meilleurs Résultats</a:t>
            </a:r>
          </a:p>
          <a:p>
            <a:pPr algn="l">
              <a:lnSpc>
                <a:spcPts val="3468"/>
              </a:lnSpc>
              <a:spcBef>
                <a:spcPct val="0"/>
              </a:spcBef>
            </a:pPr>
          </a:p>
          <a:p>
            <a:pPr algn="l">
              <a:lnSpc>
                <a:spcPts val="3468"/>
              </a:lnSpc>
              <a:spcBef>
                <a:spcPct val="0"/>
              </a:spcBef>
            </a:pPr>
            <a:r>
              <a:rPr lang="en-US" b="true" sz="2477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Modèle:</a:t>
            </a:r>
          </a:p>
          <a:p>
            <a:pPr algn="l">
              <a:lnSpc>
                <a:spcPts val="3468"/>
              </a:lnSpc>
              <a:spcBef>
                <a:spcPct val="0"/>
              </a:spcBef>
            </a:pPr>
            <a:r>
              <a:rPr lang="en-US" sz="24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Gradient Boosting (Top 6 Features + Log + Tuned)</a:t>
            </a:r>
          </a:p>
          <a:p>
            <a:pPr algn="l">
              <a:lnSpc>
                <a:spcPts val="3468"/>
              </a:lnSpc>
              <a:spcBef>
                <a:spcPct val="0"/>
              </a:spcBef>
            </a:pPr>
          </a:p>
          <a:p>
            <a:pPr algn="l">
              <a:lnSpc>
                <a:spcPts val="3468"/>
              </a:lnSpc>
              <a:spcBef>
                <a:spcPct val="0"/>
              </a:spcBef>
            </a:pPr>
            <a:r>
              <a:rPr lang="en-US" b="true" sz="2477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Top 6 prédicteurs utilisés :</a:t>
            </a:r>
          </a:p>
          <a:p>
            <a:pPr algn="l" marL="534940" indent="-267470" lvl="1">
              <a:lnSpc>
                <a:spcPts val="3468"/>
              </a:lnSpc>
              <a:buFont typeface="Arial"/>
              <a:buChar char="•"/>
            </a:pPr>
            <a:r>
              <a:rPr lang="en-US" sz="24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PropertyGFATotal</a:t>
            </a:r>
          </a:p>
          <a:p>
            <a:pPr algn="l" marL="534940" indent="-267470" lvl="1">
              <a:lnSpc>
                <a:spcPts val="3468"/>
              </a:lnSpc>
              <a:buFont typeface="Arial"/>
              <a:buChar char="•"/>
            </a:pPr>
            <a:r>
              <a:rPr lang="en-US" sz="24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LargestPropertyUseType</a:t>
            </a:r>
          </a:p>
          <a:p>
            <a:pPr algn="l" marL="534940" indent="-267470" lvl="1">
              <a:lnSpc>
                <a:spcPts val="3468"/>
              </a:lnSpc>
              <a:buFont typeface="Arial"/>
              <a:buChar char="•"/>
            </a:pPr>
            <a:r>
              <a:rPr lang="en-US" sz="24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ENERGYSTARScore</a:t>
            </a:r>
          </a:p>
          <a:p>
            <a:pPr algn="l" marL="534940" indent="-267470" lvl="1">
              <a:lnSpc>
                <a:spcPts val="3468"/>
              </a:lnSpc>
              <a:buFont typeface="Arial"/>
              <a:buChar char="•"/>
            </a:pPr>
            <a:r>
              <a:rPr lang="en-US" sz="24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PropertyGFABuilding(s)</a:t>
            </a:r>
          </a:p>
          <a:p>
            <a:pPr algn="l" marL="534940" indent="-267470" lvl="1">
              <a:lnSpc>
                <a:spcPts val="3468"/>
              </a:lnSpc>
              <a:buFont typeface="Arial"/>
              <a:buChar char="•"/>
            </a:pPr>
            <a:r>
              <a:rPr lang="en-US" sz="24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ElectricityRatio</a:t>
            </a:r>
          </a:p>
          <a:p>
            <a:pPr algn="l" marL="534940" indent="-267470" lvl="1">
              <a:lnSpc>
                <a:spcPts val="3468"/>
              </a:lnSpc>
              <a:buFont typeface="Arial"/>
              <a:buChar char="•"/>
            </a:pPr>
            <a:r>
              <a:rPr lang="en-US" sz="24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SurfacePerBuilding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6428" y="8090998"/>
            <a:ext cx="15878249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Modèle plus rapide, plus léger et plus précis.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sélection des variables + transformation logarithmique + tuning ont amélioré les performances.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Montre que ENERGYSTARScore reste un élément crucial même avec un nombre minimal de variables.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11436"/>
            <a:ext cx="7636853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5"/>
              </a:lnSpc>
              <a:spcBef>
                <a:spcPct val="0"/>
              </a:spcBef>
            </a:pPr>
            <a:r>
              <a:rPr lang="en-US" b="true" sz="3018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Réentraînement avec les Top Features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39315" y="2000945"/>
            <a:ext cx="11912385" cy="7802612"/>
          </a:xfrm>
          <a:custGeom>
            <a:avLst/>
            <a:gdLst/>
            <a:ahLst/>
            <a:cxnLst/>
            <a:rect r="r" b="b" t="t" l="l"/>
            <a:pathLst>
              <a:path h="7802612" w="11912385">
                <a:moveTo>
                  <a:pt x="0" y="0"/>
                </a:moveTo>
                <a:lnTo>
                  <a:pt x="11912385" y="0"/>
                </a:lnTo>
                <a:lnTo>
                  <a:pt x="11912385" y="7802612"/>
                </a:lnTo>
                <a:lnTo>
                  <a:pt x="0" y="78026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68343" y="491735"/>
            <a:ext cx="13914854" cy="1227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1"/>
              </a:lnSpc>
            </a:pPr>
            <a:r>
              <a:rPr lang="en-US" sz="3305" b="true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Évaluation c</a:t>
            </a:r>
            <a:r>
              <a:rPr lang="en-US" b="true" sz="3305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omparative des modèles </a:t>
            </a:r>
          </a:p>
          <a:p>
            <a:pPr algn="l">
              <a:lnSpc>
                <a:spcPts val="3960"/>
              </a:lnSpc>
            </a:pPr>
            <a:r>
              <a:rPr lang="en-US" b="true" sz="2275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Compare tous les modèles entraînés selon quatre métriques clés ::</a:t>
            </a:r>
            <a:r>
              <a:rPr lang="en-US" b="true" sz="227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R², RMSE, MAE, and MAPE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253303"/>
            <a:ext cx="4703710" cy="2540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  <a:spcBef>
                <a:spcPct val="0"/>
              </a:spcBef>
            </a:pPr>
            <a:r>
              <a:rPr lang="en-US" b="true" sz="2240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2240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eilleur modèle global :</a:t>
            </a:r>
          </a:p>
          <a:p>
            <a:pPr algn="l">
              <a:lnSpc>
                <a:spcPts val="3417"/>
              </a:lnSpc>
            </a:pPr>
            <a:r>
              <a:rPr lang="en-US" sz="24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Gradient Boosting </a:t>
            </a:r>
          </a:p>
          <a:p>
            <a:pPr algn="l">
              <a:lnSpc>
                <a:spcPts val="3417"/>
              </a:lnSpc>
            </a:pPr>
            <a:r>
              <a:rPr lang="en-US" sz="24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(Top Features + log + Tuned)</a:t>
            </a:r>
          </a:p>
          <a:p>
            <a:pPr algn="l">
              <a:lnSpc>
                <a:spcPts val="3417"/>
              </a:lnSpc>
            </a:pPr>
          </a:p>
          <a:p>
            <a:pPr algn="l">
              <a:lnSpc>
                <a:spcPts val="3417"/>
              </a:lnSpc>
            </a:pPr>
            <a:r>
              <a:rPr lang="en-US" sz="24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obtenu le meilleur R² et le MAE le plus bas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58082" y="1987935"/>
            <a:ext cx="8801218" cy="6622917"/>
          </a:xfrm>
          <a:custGeom>
            <a:avLst/>
            <a:gdLst/>
            <a:ahLst/>
            <a:cxnLst/>
            <a:rect r="r" b="b" t="t" l="l"/>
            <a:pathLst>
              <a:path h="6622917" w="8801218">
                <a:moveTo>
                  <a:pt x="0" y="0"/>
                </a:moveTo>
                <a:lnTo>
                  <a:pt x="8801218" y="0"/>
                </a:lnTo>
                <a:lnTo>
                  <a:pt x="8801218" y="6622916"/>
                </a:lnTo>
                <a:lnTo>
                  <a:pt x="0" y="66229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16682" y="668730"/>
            <a:ext cx="11647810" cy="62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b="true" sz="3530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Modeling GHG</a:t>
            </a:r>
            <a:r>
              <a:rPr lang="en-US" b="true" sz="3530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 Emissions – Avec ENERGYSTARScore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32324"/>
            <a:ext cx="7429382" cy="7060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7"/>
              </a:lnSpc>
              <a:spcBef>
                <a:spcPct val="0"/>
              </a:spcBef>
            </a:pPr>
            <a:r>
              <a:rPr lang="en-US" b="true" sz="2348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Objectif</a:t>
            </a:r>
          </a:p>
          <a:p>
            <a:pPr algn="l">
              <a:lnSpc>
                <a:spcPts val="2727"/>
              </a:lnSpc>
              <a:spcBef>
                <a:spcPct val="0"/>
              </a:spcBef>
            </a:pPr>
            <a:r>
              <a:rPr lang="en-US" sz="19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rédire TotalGHGEmissions (CO₂) à partir des caractéristiques des bâtiments et des variables dérivées, y compris ENERGYSTARScore.</a:t>
            </a:r>
          </a:p>
          <a:p>
            <a:pPr algn="l">
              <a:lnSpc>
                <a:spcPts val="2727"/>
              </a:lnSpc>
              <a:spcBef>
                <a:spcPct val="0"/>
              </a:spcBef>
            </a:pPr>
          </a:p>
          <a:p>
            <a:pPr algn="l">
              <a:lnSpc>
                <a:spcPts val="3147"/>
              </a:lnSpc>
              <a:spcBef>
                <a:spcPct val="0"/>
              </a:spcBef>
            </a:pPr>
            <a:r>
              <a:rPr lang="en-US" b="true" sz="2248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Variable:</a:t>
            </a:r>
          </a:p>
          <a:p>
            <a:pPr algn="l">
              <a:lnSpc>
                <a:spcPts val="2727"/>
              </a:lnSpc>
              <a:spcBef>
                <a:spcPct val="0"/>
              </a:spcBef>
            </a:pPr>
            <a:r>
              <a:rPr lang="en-US" sz="19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TotalGHGEmissions (log-transformed pour une meilleure modélisation)</a:t>
            </a:r>
          </a:p>
          <a:p>
            <a:pPr algn="l">
              <a:lnSpc>
                <a:spcPts val="2727"/>
              </a:lnSpc>
              <a:spcBef>
                <a:spcPct val="0"/>
              </a:spcBef>
            </a:pPr>
          </a:p>
          <a:p>
            <a:pPr algn="l">
              <a:lnSpc>
                <a:spcPts val="3007"/>
              </a:lnSpc>
              <a:spcBef>
                <a:spcPct val="0"/>
              </a:spcBef>
            </a:pPr>
            <a:r>
              <a:rPr lang="en-US" b="true" sz="2148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Appr</a:t>
            </a:r>
            <a:r>
              <a:rPr lang="en-US" b="true" sz="2148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oche de modélisation :</a:t>
            </a:r>
          </a:p>
          <a:p>
            <a:pPr algn="l" marL="463855" indent="-231928" lvl="1">
              <a:lnSpc>
                <a:spcPts val="3007"/>
              </a:lnSpc>
              <a:buFont typeface="Arial"/>
              <a:buChar char="•"/>
            </a:pPr>
            <a:r>
              <a:rPr lang="en-US" sz="21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 Engineering</a:t>
            </a:r>
          </a:p>
          <a:p>
            <a:pPr algn="l" marL="420676" indent="-210338" lvl="1">
              <a:lnSpc>
                <a:spcPts val="2727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 Target Transformation</a:t>
            </a:r>
          </a:p>
          <a:p>
            <a:pPr algn="l" marL="420676" indent="-210338" lvl="1">
              <a:lnSpc>
                <a:spcPts val="2727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Gradient Boosting Regressor</a:t>
            </a:r>
          </a:p>
          <a:p>
            <a:pPr algn="l" marL="420676" indent="-210338" lvl="1">
              <a:lnSpc>
                <a:spcPts val="2727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Grid Search Hyperparameter Tuning</a:t>
            </a:r>
          </a:p>
          <a:p>
            <a:pPr algn="l" marL="420676" indent="-210338" lvl="1">
              <a:lnSpc>
                <a:spcPts val="2727"/>
              </a:lnSpc>
              <a:buFont typeface="Arial"/>
              <a:buChar char="•"/>
            </a:pPr>
            <a:r>
              <a:rPr lang="en-US" sz="19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Top Features Selection</a:t>
            </a:r>
          </a:p>
          <a:p>
            <a:pPr algn="l">
              <a:lnSpc>
                <a:spcPts val="2727"/>
              </a:lnSpc>
            </a:pPr>
          </a:p>
          <a:p>
            <a:pPr algn="l">
              <a:lnSpc>
                <a:spcPts val="2727"/>
              </a:lnSpc>
              <a:spcBef>
                <a:spcPct val="0"/>
              </a:spcBef>
            </a:pPr>
            <a:r>
              <a:rPr lang="en-US" b="true" sz="1948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Meill</a:t>
            </a:r>
            <a:r>
              <a:rPr lang="en-US" b="true" sz="1948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eur modèle :</a:t>
            </a:r>
          </a:p>
          <a:p>
            <a:pPr algn="l">
              <a:lnSpc>
                <a:spcPts val="2727"/>
              </a:lnSpc>
              <a:spcBef>
                <a:spcPct val="0"/>
              </a:spcBef>
            </a:pPr>
            <a:r>
              <a:rPr lang="en-US" sz="19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Gradient Boosting (Top Features + Log Target + Tuned)</a:t>
            </a:r>
          </a:p>
          <a:p>
            <a:pPr algn="l">
              <a:lnSpc>
                <a:spcPts val="2727"/>
              </a:lnSpc>
              <a:spcBef>
                <a:spcPct val="0"/>
              </a:spcBef>
            </a:pPr>
            <a:r>
              <a:rPr lang="en-US" sz="19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achieved R^2 = 0.73, MAPE = 28.9%.</a:t>
            </a:r>
          </a:p>
          <a:p>
            <a:pPr algn="l">
              <a:lnSpc>
                <a:spcPts val="272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70362"/>
            <a:ext cx="16471022" cy="607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b="true" sz="2251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Target: </a:t>
            </a: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TotalGHGEmissions, (log-transformée)</a:t>
            </a:r>
          </a:p>
          <a:p>
            <a:pPr algn="l">
              <a:lnSpc>
                <a:spcPts val="4524"/>
              </a:lnSpc>
            </a:pPr>
            <a:r>
              <a:rPr lang="en-US" b="true" sz="2251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Model: </a:t>
            </a:r>
            <a:r>
              <a:rPr lang="en-US" sz="225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Gradient Boosting Regressor avec tuned hyperparameters.</a:t>
            </a:r>
          </a:p>
          <a:p>
            <a:pPr algn="l">
              <a:lnSpc>
                <a:spcPts val="3151"/>
              </a:lnSpc>
              <a:spcBef>
                <a:spcPct val="0"/>
              </a:spcBef>
            </a:pPr>
          </a:p>
          <a:p>
            <a:pPr algn="l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(sans ENERGYSTARScore):</a:t>
            </a:r>
          </a:p>
          <a:p>
            <a:pPr algn="l">
              <a:lnSpc>
                <a:spcPts val="3151"/>
              </a:lnSpc>
              <a:spcBef>
                <a:spcPct val="0"/>
              </a:spcBef>
            </a:pPr>
          </a:p>
          <a:p>
            <a:pPr algn="l">
              <a:lnSpc>
                <a:spcPts val="3151"/>
              </a:lnSpc>
              <a:spcBef>
                <a:spcPct val="0"/>
              </a:spcBef>
            </a:pPr>
          </a:p>
          <a:p>
            <a:pPr algn="l">
              <a:lnSpc>
                <a:spcPts val="3151"/>
              </a:lnSpc>
              <a:spcBef>
                <a:spcPct val="0"/>
              </a:spcBef>
            </a:pPr>
          </a:p>
          <a:p>
            <a:pPr algn="l">
              <a:lnSpc>
                <a:spcPts val="3151"/>
              </a:lnSpc>
              <a:spcBef>
                <a:spcPct val="0"/>
              </a:spcBef>
            </a:pPr>
          </a:p>
          <a:p>
            <a:pPr algn="l">
              <a:lnSpc>
                <a:spcPts val="3151"/>
              </a:lnSpc>
              <a:spcBef>
                <a:spcPct val="0"/>
              </a:spcBef>
            </a:pPr>
          </a:p>
          <a:p>
            <a:pPr algn="l">
              <a:lnSpc>
                <a:spcPts val="3151"/>
              </a:lnSpc>
              <a:spcBef>
                <a:spcPct val="0"/>
              </a:spcBef>
            </a:pPr>
          </a:p>
          <a:p>
            <a:pPr algn="l">
              <a:lnSpc>
                <a:spcPts val="3151"/>
              </a:lnSpc>
              <a:spcBef>
                <a:spcPct val="0"/>
              </a:spcBef>
            </a:pPr>
            <a:r>
              <a:rPr lang="en-US" b="true" sz="2251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Insight:</a:t>
            </a:r>
          </a:p>
          <a:p>
            <a:pPr algn="l">
              <a:lnSpc>
                <a:spcPts val="5627"/>
              </a:lnSpc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Retirer ENERGYSTARScore réduit considérablement la précision du modèle.</a:t>
            </a:r>
          </a:p>
          <a:p>
            <a:pPr algn="l">
              <a:lnSpc>
                <a:spcPts val="5627"/>
              </a:lnSpc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Cela montre que cette variable capture des facteurs d'efficacité essentiels absents des autres variables.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180768" y="5929196"/>
            <a:ext cx="5926465" cy="1762445"/>
          </a:xfrm>
          <a:custGeom>
            <a:avLst/>
            <a:gdLst/>
            <a:ahLst/>
            <a:cxnLst/>
            <a:rect r="r" b="b" t="t" l="l"/>
            <a:pathLst>
              <a:path h="1762445" w="5926465">
                <a:moveTo>
                  <a:pt x="0" y="0"/>
                </a:moveTo>
                <a:lnTo>
                  <a:pt x="5926464" y="0"/>
                </a:lnTo>
                <a:lnTo>
                  <a:pt x="5926464" y="1762445"/>
                </a:lnTo>
                <a:lnTo>
                  <a:pt x="0" y="1762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22251" y="668730"/>
            <a:ext cx="15243497" cy="62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b="true" sz="3530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Impact de ENERGYSTARScore sur la prédiction des  GHG Emissions 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6983" y="1587953"/>
            <a:ext cx="16134035" cy="185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1"/>
              </a:lnSpc>
              <a:spcBef>
                <a:spcPct val="0"/>
              </a:spcBef>
            </a:pPr>
            <a:r>
              <a:rPr lang="en-US" b="true" sz="2229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Que</a:t>
            </a:r>
            <a:r>
              <a:rPr lang="en-US" b="true" sz="2229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 se passe-t-il si on retire ENERGYSTARScore ?</a:t>
            </a:r>
          </a:p>
          <a:p>
            <a:pPr algn="l">
              <a:lnSpc>
                <a:spcPts val="4013"/>
              </a:lnSpc>
            </a:pPr>
            <a:r>
              <a:rPr lang="en-US" sz="22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2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</a:t>
            </a:r>
            <a:r>
              <a:rPr lang="en-US" sz="22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évaluer la véritable contribution de ENERGYSTARScore, nous avons réentraîné notre meilleur modèle sans cette variable.</a:t>
            </a:r>
          </a:p>
          <a:p>
            <a:pPr algn="l">
              <a:lnSpc>
                <a:spcPts val="4013"/>
              </a:lnSpc>
              <a:spcBef>
                <a:spcPct val="0"/>
              </a:spcBef>
            </a:pPr>
            <a:r>
              <a:rPr lang="en-US" sz="22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Cela simule un scénario où Seattle arrêterait de la collecter ou de l’utiliser pour la prédiction des émissions.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78163"/>
            <a:ext cx="16230600" cy="754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7"/>
              </a:lnSpc>
            </a:pPr>
            <a:r>
              <a:rPr lang="en-US" b="true" sz="2449">
                <a:solidFill>
                  <a:srgbClr val="10BF5B"/>
                </a:solidFill>
                <a:latin typeface="Poppins Bold"/>
                <a:ea typeface="Poppins Bold"/>
                <a:cs typeface="Poppins Bold"/>
                <a:sym typeface="Poppins Bold"/>
              </a:rPr>
              <a:t>Seattle</a:t>
            </a:r>
            <a:r>
              <a:rPr lang="en-US" sz="24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devrait continuer à collecter et utiliser ENERGYSTARScore car :</a:t>
            </a:r>
          </a:p>
          <a:p>
            <a:pPr algn="l" marL="528831" indent="-264415" lvl="1">
              <a:lnSpc>
                <a:spcPts val="5217"/>
              </a:lnSpc>
              <a:buFont typeface="Arial"/>
              <a:buChar char="•"/>
            </a:pPr>
            <a:r>
              <a:rPr lang="en-US" sz="24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 améliore significativement la précision des prédictions.</a:t>
            </a:r>
          </a:p>
          <a:p>
            <a:pPr algn="l" marL="528831" indent="-264415" lvl="1">
              <a:lnSpc>
                <a:spcPts val="5217"/>
              </a:lnSpc>
              <a:buFont typeface="Arial"/>
              <a:buChar char="•"/>
            </a:pPr>
            <a:r>
              <a:rPr lang="en-US" sz="24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 capture des informations clés sur l’efficacité énergétique non présentes dans d’autres variables.</a:t>
            </a:r>
          </a:p>
          <a:p>
            <a:pPr algn="l" marL="528831" indent="-264415" lvl="1">
              <a:lnSpc>
                <a:spcPts val="5217"/>
              </a:lnSpc>
              <a:buFont typeface="Arial"/>
              <a:buChar char="•"/>
            </a:pPr>
            <a:r>
              <a:rPr lang="en-US" sz="24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 aide à prioriser les inspections</a:t>
            </a:r>
            <a:r>
              <a:rPr lang="en-US" sz="24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sur</a:t>
            </a:r>
            <a:r>
              <a:rPr lang="en-US" sz="24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les bâtiments les moins performants.</a:t>
            </a:r>
          </a:p>
          <a:p>
            <a:pPr algn="l">
              <a:lnSpc>
                <a:spcPts val="4384"/>
              </a:lnSpc>
            </a:pPr>
          </a:p>
          <a:p>
            <a:pPr algn="l">
              <a:lnSpc>
                <a:spcPts val="4847"/>
              </a:lnSpc>
            </a:pPr>
            <a:r>
              <a:rPr lang="en-US" b="true" sz="2275">
                <a:solidFill>
                  <a:srgbClr val="10BF5B"/>
                </a:solidFill>
                <a:latin typeface="Poppins Bold"/>
                <a:ea typeface="Poppins Bold"/>
                <a:cs typeface="Poppins Bold"/>
                <a:sym typeface="Poppins Bold"/>
              </a:rPr>
              <a:t>Remarqu</a:t>
            </a:r>
            <a:r>
              <a:rPr lang="en-US" b="true" sz="2275">
                <a:solidFill>
                  <a:srgbClr val="10BF5B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27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algn="l">
              <a:lnSpc>
                <a:spcPts val="4847"/>
              </a:lnSpc>
            </a:pPr>
            <a:r>
              <a:rPr lang="en-US" b="true" sz="227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ENERGYSTARScore </a:t>
            </a:r>
            <a:r>
              <a:rPr lang="en-US" sz="2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 calculé numériquement via Portfolio Manager — aucune visite sur site n’est nécessaire.</a:t>
            </a:r>
          </a:p>
          <a:p>
            <a:pPr algn="l">
              <a:lnSpc>
                <a:spcPts val="4384"/>
              </a:lnSpc>
            </a:pPr>
          </a:p>
          <a:p>
            <a:pPr algn="l">
              <a:lnSpc>
                <a:spcPts val="5217"/>
              </a:lnSpc>
            </a:pPr>
            <a:r>
              <a:rPr lang="en-US" b="true" sz="2449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  <a:r>
              <a:rPr lang="en-US" b="true" sz="24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algn="l">
              <a:lnSpc>
                <a:spcPts val="5217"/>
              </a:lnSpc>
            </a:pPr>
            <a:r>
              <a:rPr lang="en-US" sz="24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C’est une variable peu coûteuse mais à fort impact.</a:t>
            </a:r>
          </a:p>
          <a:p>
            <a:pPr algn="l">
              <a:lnSpc>
                <a:spcPts val="5217"/>
              </a:lnSpc>
            </a:pPr>
            <a:r>
              <a:rPr lang="en-US" sz="244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supprimer augmente l’erreur de prédiction et le risque de mal cibler les ressources.</a:t>
            </a:r>
          </a:p>
          <a:p>
            <a:pPr algn="l">
              <a:lnSpc>
                <a:spcPts val="521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14599" y="668730"/>
            <a:ext cx="4320257" cy="62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b="true" sz="3530">
                <a:solidFill>
                  <a:srgbClr val="10BF5B"/>
                </a:solidFill>
                <a:latin typeface="Poppins Bold"/>
                <a:ea typeface="Poppins Bold"/>
                <a:cs typeface="Poppins Bold"/>
                <a:sym typeface="Poppins Bold"/>
              </a:rPr>
              <a:t>Recommandation: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4417" y="5314770"/>
            <a:ext cx="16499166" cy="61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0"/>
              </a:lnSpc>
            </a:pPr>
            <a:r>
              <a:rPr lang="en-US" sz="34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Trois étapes : du test local au déploiement dans le cloud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741507"/>
            <a:ext cx="16474387" cy="723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7"/>
              </a:lnSpc>
            </a:pPr>
            <a:r>
              <a:rPr lang="en-US" sz="4048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Déploiement d’un Modèle de Machine Learning avec BentoML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1155" y="651669"/>
            <a:ext cx="13525689" cy="9079119"/>
          </a:xfrm>
          <a:custGeom>
            <a:avLst/>
            <a:gdLst/>
            <a:ahLst/>
            <a:cxnLst/>
            <a:rect r="r" b="b" t="t" l="l"/>
            <a:pathLst>
              <a:path h="9079119" w="13525689">
                <a:moveTo>
                  <a:pt x="0" y="0"/>
                </a:moveTo>
                <a:lnTo>
                  <a:pt x="13525690" y="0"/>
                </a:lnTo>
                <a:lnTo>
                  <a:pt x="13525690" y="9079119"/>
                </a:lnTo>
                <a:lnTo>
                  <a:pt x="0" y="9079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91182" y="546894"/>
            <a:ext cx="5803077" cy="69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7"/>
              </a:lnSpc>
              <a:spcBef>
                <a:spcPct val="0"/>
              </a:spcBef>
            </a:pPr>
            <a:r>
              <a:rPr lang="en-US" b="true" sz="3919">
                <a:solidFill>
                  <a:srgbClr val="38B6FF"/>
                </a:solidFill>
                <a:latin typeface="Poppins Bold"/>
                <a:ea typeface="Poppins Bold"/>
                <a:cs typeface="Poppins Bold"/>
                <a:sym typeface="Poppins Bold"/>
              </a:rPr>
              <a:t>Deployment Workflow 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90235"/>
            <a:ext cx="16049606" cy="1025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5"/>
              </a:lnSpc>
            </a:pPr>
            <a:r>
              <a:rPr lang="en-US" sz="2918" b="true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Objectif : </a:t>
            </a:r>
            <a:r>
              <a:rPr lang="en-US" sz="29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Déployer un modèle de ML qui prédit la consommation d’énergie et les émissions de CO₂ via une API en temps réel.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5308" y="540209"/>
            <a:ext cx="16437384" cy="81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0"/>
              </a:lnSpc>
            </a:pPr>
            <a:r>
              <a:rPr lang="en-US" sz="4600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 du Processus de Déploiement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84364"/>
            <a:ext cx="13512459" cy="4437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802" b="true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Processus en trois étapes :</a:t>
            </a:r>
          </a:p>
          <a:p>
            <a:pPr algn="l" marL="605017" indent="-302508" lvl="1">
              <a:lnSpc>
                <a:spcPts val="3923"/>
              </a:lnSpc>
              <a:buFont typeface="Arial"/>
              <a:buChar char="•"/>
            </a:pPr>
            <a:r>
              <a:rPr lang="en-US" sz="2802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Création et test de l’API en local</a:t>
            </a:r>
          </a:p>
          <a:p>
            <a:pPr algn="l" marL="605017" indent="-302508" lvl="1">
              <a:lnSpc>
                <a:spcPts val="3923"/>
              </a:lnSpc>
              <a:buFont typeface="Arial"/>
              <a:buChar char="•"/>
            </a:pPr>
            <a:r>
              <a:rPr lang="en-US" sz="2802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Conteneurisation avec Docker</a:t>
            </a:r>
          </a:p>
          <a:p>
            <a:pPr algn="l" marL="605017" indent="-302508" lvl="1">
              <a:lnSpc>
                <a:spcPts val="3923"/>
              </a:lnSpc>
              <a:buFont typeface="Arial"/>
              <a:buChar char="•"/>
            </a:pPr>
            <a:r>
              <a:rPr lang="en-US" sz="2802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Déploiement dans le cloud (GCP ou BentoCloud)</a:t>
            </a:r>
          </a:p>
          <a:p>
            <a:pPr algn="l">
              <a:lnSpc>
                <a:spcPts val="3923"/>
              </a:lnSpc>
            </a:pPr>
          </a:p>
          <a:p>
            <a:pPr algn="l">
              <a:lnSpc>
                <a:spcPts val="3923"/>
              </a:lnSpc>
            </a:pPr>
            <a:r>
              <a:rPr lang="en-US" sz="2802" b="true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 utilisées :</a:t>
            </a:r>
          </a:p>
          <a:p>
            <a:pPr algn="l">
              <a:lnSpc>
                <a:spcPts val="3923"/>
              </a:lnSpc>
            </a:pPr>
            <a:r>
              <a:rPr lang="en-US" sz="2802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        - BentoML pour API creation</a:t>
            </a:r>
          </a:p>
          <a:p>
            <a:pPr algn="l">
              <a:lnSpc>
                <a:spcPts val="3923"/>
              </a:lnSpc>
            </a:pPr>
            <a:r>
              <a:rPr lang="en-US" sz="2802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        - Docker pour containerization</a:t>
            </a:r>
          </a:p>
          <a:p>
            <a:pPr algn="l">
              <a:lnSpc>
                <a:spcPts val="3923"/>
              </a:lnSpc>
            </a:pPr>
            <a:r>
              <a:rPr lang="en-US" sz="2802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        - Google Cloud Platform (GCP) or  BentoCloud pour Déploiement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83499" y="2200190"/>
            <a:ext cx="8843054" cy="3070725"/>
          </a:xfrm>
          <a:custGeom>
            <a:avLst/>
            <a:gdLst/>
            <a:ahLst/>
            <a:cxnLst/>
            <a:rect r="r" b="b" t="t" l="l"/>
            <a:pathLst>
              <a:path h="3070725" w="8843054">
                <a:moveTo>
                  <a:pt x="0" y="0"/>
                </a:moveTo>
                <a:lnTo>
                  <a:pt x="8843054" y="0"/>
                </a:lnTo>
                <a:lnTo>
                  <a:pt x="8843054" y="3070725"/>
                </a:lnTo>
                <a:lnTo>
                  <a:pt x="0" y="3070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484" r="-4487" b="-196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69942" y="5385319"/>
            <a:ext cx="6697203" cy="2845722"/>
          </a:xfrm>
          <a:custGeom>
            <a:avLst/>
            <a:gdLst/>
            <a:ahLst/>
            <a:cxnLst/>
            <a:rect r="r" b="b" t="t" l="l"/>
            <a:pathLst>
              <a:path h="2845722" w="6697203">
                <a:moveTo>
                  <a:pt x="0" y="0"/>
                </a:moveTo>
                <a:lnTo>
                  <a:pt x="6697203" y="0"/>
                </a:lnTo>
                <a:lnTo>
                  <a:pt x="6697203" y="2845722"/>
                </a:lnTo>
                <a:lnTo>
                  <a:pt x="0" y="2845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8473" b="-2086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55420" y="8677902"/>
            <a:ext cx="11301259" cy="1169964"/>
          </a:xfrm>
          <a:custGeom>
            <a:avLst/>
            <a:gdLst/>
            <a:ahLst/>
            <a:cxnLst/>
            <a:rect r="r" b="b" t="t" l="l"/>
            <a:pathLst>
              <a:path h="1169964" w="11301259">
                <a:moveTo>
                  <a:pt x="0" y="0"/>
                </a:moveTo>
                <a:lnTo>
                  <a:pt x="11301259" y="0"/>
                </a:lnTo>
                <a:lnTo>
                  <a:pt x="11301259" y="1169963"/>
                </a:lnTo>
                <a:lnTo>
                  <a:pt x="0" y="1169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6783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75851"/>
            <a:ext cx="14211667" cy="893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7"/>
              </a:lnSpc>
            </a:pPr>
            <a:r>
              <a:rPr lang="en-US" sz="4998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Étape 1 – Enregistrer et Tester Localement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492795"/>
            <a:ext cx="9172859" cy="592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9"/>
              </a:lnSpc>
            </a:pPr>
            <a:r>
              <a:rPr lang="en-US" sz="3306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1.1 Enr</a:t>
            </a:r>
            <a:r>
              <a:rPr lang="en-US" sz="3306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egistrement du Modèle Entraîné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6064" y="2403612"/>
            <a:ext cx="8082383" cy="7204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489" indent="-273744" lvl="1">
              <a:lnSpc>
                <a:spcPts val="3550"/>
              </a:lnSpc>
              <a:buFont typeface="Arial"/>
              <a:buChar char="•"/>
            </a:pPr>
            <a:r>
              <a:rPr lang="en-US" sz="25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 modèle est sauvegardé</a:t>
            </a:r>
            <a:r>
              <a:rPr lang="en-US" sz="25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dans le model store local BentoML (~/bentoml/models/)</a:t>
            </a:r>
          </a:p>
          <a:p>
            <a:pPr algn="l">
              <a:lnSpc>
                <a:spcPts val="3550"/>
              </a:lnSpc>
            </a:pPr>
          </a:p>
          <a:p>
            <a:pPr algn="l" marL="547489" indent="-273744" lvl="1">
              <a:lnSpc>
                <a:spcPts val="3550"/>
              </a:lnSpc>
              <a:buFont typeface="Arial"/>
              <a:buChar char="•"/>
            </a:pPr>
            <a:r>
              <a:rPr lang="en-US" sz="25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dossier est automatiquement créé avec un tag versionné (ex. : energy_predictor_model:ie45mcqvrgn3s6d3)</a:t>
            </a:r>
          </a:p>
          <a:p>
            <a:pPr algn="l">
              <a:lnSpc>
                <a:spcPts val="3550"/>
              </a:lnSpc>
            </a:pPr>
          </a:p>
          <a:p>
            <a:pPr algn="l" marL="547489" indent="-273744" lvl="1">
              <a:lnSpc>
                <a:spcPts val="3550"/>
              </a:lnSpc>
              <a:buFont typeface="Arial"/>
              <a:buChar char="•"/>
            </a:pPr>
            <a:r>
              <a:rPr lang="en-US" sz="25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fichier model.yaml est généré dans ce dossier, contenant les métadonnées nécessaires à la gestion du modèle par BentoML :</a:t>
            </a:r>
          </a:p>
          <a:p>
            <a:pPr algn="l">
              <a:lnSpc>
                <a:spcPts val="3550"/>
              </a:lnSpc>
            </a:pPr>
            <a:r>
              <a:rPr lang="en-US" sz="25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- </a:t>
            </a:r>
            <a:r>
              <a:rPr lang="en-US" sz="25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 name</a:t>
            </a:r>
          </a:p>
          <a:p>
            <a:pPr algn="l">
              <a:lnSpc>
                <a:spcPts val="3550"/>
              </a:lnSpc>
            </a:pPr>
            <a:r>
              <a:rPr lang="en-US" sz="25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- Version (automatically generated tag)</a:t>
            </a:r>
          </a:p>
          <a:p>
            <a:pPr algn="l">
              <a:lnSpc>
                <a:spcPts val="3550"/>
              </a:lnSpc>
            </a:pPr>
            <a:r>
              <a:rPr lang="en-US" sz="25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- Module (e.g., bentoml.sklearn)</a:t>
            </a:r>
          </a:p>
          <a:p>
            <a:pPr algn="l">
              <a:lnSpc>
                <a:spcPts val="3550"/>
              </a:lnSpc>
            </a:pPr>
            <a:r>
              <a:rPr lang="en-US" sz="25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- Creation time</a:t>
            </a:r>
          </a:p>
          <a:p>
            <a:pPr algn="l">
              <a:lnSpc>
                <a:spcPts val="3550"/>
              </a:lnSpc>
            </a:pPr>
            <a:r>
              <a:rPr lang="en-US" sz="25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- File paths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96167" y="609933"/>
            <a:ext cx="7763133" cy="6293630"/>
          </a:xfrm>
          <a:custGeom>
            <a:avLst/>
            <a:gdLst/>
            <a:ahLst/>
            <a:cxnLst/>
            <a:rect r="r" b="b" t="t" l="l"/>
            <a:pathLst>
              <a:path h="6293630" w="7763133">
                <a:moveTo>
                  <a:pt x="0" y="0"/>
                </a:moveTo>
                <a:lnTo>
                  <a:pt x="7763133" y="0"/>
                </a:lnTo>
                <a:lnTo>
                  <a:pt x="7763133" y="6293629"/>
                </a:lnTo>
                <a:lnTo>
                  <a:pt x="0" y="6293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1953" y="2644138"/>
            <a:ext cx="9264214" cy="5668559"/>
          </a:xfrm>
          <a:custGeom>
            <a:avLst/>
            <a:gdLst/>
            <a:ahLst/>
            <a:cxnLst/>
            <a:rect r="r" b="b" t="t" l="l"/>
            <a:pathLst>
              <a:path h="5668559" w="9264214">
                <a:moveTo>
                  <a:pt x="0" y="0"/>
                </a:moveTo>
                <a:lnTo>
                  <a:pt x="9264214" y="0"/>
                </a:lnTo>
                <a:lnTo>
                  <a:pt x="9264214" y="5668559"/>
                </a:lnTo>
                <a:lnTo>
                  <a:pt x="0" y="56685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96167" y="6903562"/>
            <a:ext cx="7321572" cy="3113109"/>
          </a:xfrm>
          <a:custGeom>
            <a:avLst/>
            <a:gdLst/>
            <a:ahLst/>
            <a:cxnLst/>
            <a:rect r="r" b="b" t="t" l="l"/>
            <a:pathLst>
              <a:path h="3113109" w="7321572">
                <a:moveTo>
                  <a:pt x="0" y="0"/>
                </a:moveTo>
                <a:lnTo>
                  <a:pt x="7321572" y="0"/>
                </a:lnTo>
                <a:lnTo>
                  <a:pt x="7321572" y="3113110"/>
                </a:lnTo>
                <a:lnTo>
                  <a:pt x="0" y="31131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70335" y="342126"/>
            <a:ext cx="6923597" cy="68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3"/>
              </a:lnSpc>
            </a:pPr>
            <a:r>
              <a:rPr lang="en-US" sz="3809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1.2  Définir la logique de l’API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4960" y="1124063"/>
            <a:ext cx="7894347" cy="69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2503" indent="-411251" lvl="1">
              <a:lnSpc>
                <a:spcPts val="5333"/>
              </a:lnSpc>
              <a:buFont typeface="Arial"/>
              <a:buChar char="•"/>
            </a:pPr>
            <a:r>
              <a:rPr lang="en-US" b="true" sz="3809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Créer un fichier  service.py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50524" y="1275240"/>
            <a:ext cx="12024696" cy="8853182"/>
          </a:xfrm>
          <a:custGeom>
            <a:avLst/>
            <a:gdLst/>
            <a:ahLst/>
            <a:cxnLst/>
            <a:rect r="r" b="b" t="t" l="l"/>
            <a:pathLst>
              <a:path h="8853182" w="12024696">
                <a:moveTo>
                  <a:pt x="0" y="0"/>
                </a:moveTo>
                <a:lnTo>
                  <a:pt x="12024696" y="0"/>
                </a:lnTo>
                <a:lnTo>
                  <a:pt x="12024696" y="8853182"/>
                </a:lnTo>
                <a:lnTo>
                  <a:pt x="0" y="8853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25183" y="465826"/>
            <a:ext cx="7467122" cy="677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Construire et Servir en Local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2002" y="2765559"/>
            <a:ext cx="4434240" cy="691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90154" indent="-445077" lvl="1">
              <a:lnSpc>
                <a:spcPts val="5772"/>
              </a:lnSpc>
              <a:buFont typeface="Arial"/>
              <a:buChar char="•"/>
            </a:pPr>
            <a:r>
              <a:rPr lang="en-US" sz="412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412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entoml build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2002" y="4491517"/>
            <a:ext cx="5539697" cy="267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7486" indent="-413743" lvl="1">
              <a:lnSpc>
                <a:spcPts val="5365"/>
              </a:lnSpc>
              <a:buFont typeface="Arial"/>
              <a:buChar char="•"/>
            </a:pPr>
            <a:r>
              <a:rPr lang="en-US" sz="383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383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entoml serve building_energy_service:osv3p4q2ag74g6d3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5183" y="1670007"/>
            <a:ext cx="4559256" cy="1097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3"/>
              </a:lnSpc>
            </a:pPr>
            <a:r>
              <a:rPr lang="en-US" sz="3067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Tester l’API en local</a:t>
            </a:r>
          </a:p>
          <a:p>
            <a:pPr algn="l">
              <a:lnSpc>
                <a:spcPts val="4293"/>
              </a:lnSpc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7506" y="3028271"/>
            <a:ext cx="8296494" cy="6595713"/>
          </a:xfrm>
          <a:custGeom>
            <a:avLst/>
            <a:gdLst/>
            <a:ahLst/>
            <a:cxnLst/>
            <a:rect r="r" b="b" t="t" l="l"/>
            <a:pathLst>
              <a:path h="6595713" w="8296494">
                <a:moveTo>
                  <a:pt x="0" y="0"/>
                </a:moveTo>
                <a:lnTo>
                  <a:pt x="8296494" y="0"/>
                </a:lnTo>
                <a:lnTo>
                  <a:pt x="8296494" y="6595712"/>
                </a:lnTo>
                <a:lnTo>
                  <a:pt x="0" y="6595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25183" y="465826"/>
            <a:ext cx="10791131" cy="677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1.4 A</a:t>
            </a:r>
            <a:r>
              <a:rPr lang="en-US" sz="3699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ccess Swagger UI : http://localhost:3000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461370" y="4014430"/>
            <a:ext cx="7938899" cy="5487764"/>
          </a:xfrm>
          <a:custGeom>
            <a:avLst/>
            <a:gdLst/>
            <a:ahLst/>
            <a:cxnLst/>
            <a:rect r="r" b="b" t="t" l="l"/>
            <a:pathLst>
              <a:path h="5487764" w="7938899">
                <a:moveTo>
                  <a:pt x="0" y="0"/>
                </a:moveTo>
                <a:lnTo>
                  <a:pt x="7938899" y="0"/>
                </a:lnTo>
                <a:lnTo>
                  <a:pt x="7938899" y="5487763"/>
                </a:lnTo>
                <a:lnTo>
                  <a:pt x="0" y="5487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25183" y="1323236"/>
            <a:ext cx="9557072" cy="1262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250" indent="-260125" lvl="1">
              <a:lnSpc>
                <a:spcPts val="3373"/>
              </a:lnSpc>
              <a:buFont typeface="Arial"/>
              <a:buChar char="•"/>
            </a:pPr>
            <a:r>
              <a:rPr lang="en-US" sz="24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Visualiser les endpoints disponibles</a:t>
            </a:r>
          </a:p>
          <a:p>
            <a:pPr algn="l" marL="520250" indent="-260125" lvl="1">
              <a:lnSpc>
                <a:spcPts val="3373"/>
              </a:lnSpc>
              <a:buFont typeface="Arial"/>
              <a:buChar char="•"/>
            </a:pPr>
            <a:r>
              <a:rPr lang="en-US" sz="24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Tester des requêtes POST directement depuis le navigateur</a:t>
            </a:r>
          </a:p>
          <a:p>
            <a:pPr algn="l" marL="520250" indent="-260125" lvl="1">
              <a:lnSpc>
                <a:spcPts val="3373"/>
              </a:lnSpc>
              <a:buFont typeface="Arial"/>
              <a:buChar char="•"/>
            </a:pPr>
            <a:r>
              <a:rPr lang="en-US" sz="24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Valider le format des entrées selon le modèle Pydantic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24813" y="2701011"/>
            <a:ext cx="11255565" cy="6868389"/>
          </a:xfrm>
          <a:custGeom>
            <a:avLst/>
            <a:gdLst/>
            <a:ahLst/>
            <a:cxnLst/>
            <a:rect r="r" b="b" t="t" l="l"/>
            <a:pathLst>
              <a:path h="6868389" w="11255565">
                <a:moveTo>
                  <a:pt x="0" y="0"/>
                </a:moveTo>
                <a:lnTo>
                  <a:pt x="11255565" y="0"/>
                </a:lnTo>
                <a:lnTo>
                  <a:pt x="11255565" y="6868389"/>
                </a:lnTo>
                <a:lnTo>
                  <a:pt x="0" y="6868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45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96530"/>
            <a:ext cx="15247791" cy="180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b="true" sz="3409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2.1 Préparer bentofile.yaml</a:t>
            </a:r>
          </a:p>
          <a:p>
            <a:pPr algn="l">
              <a:lnSpc>
                <a:spcPts val="3793"/>
              </a:lnSpc>
            </a:pPr>
            <a:r>
              <a:rPr lang="en-US" b="true" sz="2709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Objectif : </a:t>
            </a:r>
            <a:r>
              <a:rPr lang="en-US" sz="27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Définir la configuration du service Bento pour la construction et le déploiement.</a:t>
            </a:r>
          </a:p>
          <a:p>
            <a:pPr algn="l">
              <a:lnSpc>
                <a:spcPts val="575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05697" y="288479"/>
            <a:ext cx="13846228" cy="625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9"/>
              </a:lnSpc>
            </a:pPr>
            <a:r>
              <a:rPr lang="en-US" sz="3485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2. Containeriser le Bento avec Docker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27964" y="2904474"/>
            <a:ext cx="8836078" cy="5809722"/>
          </a:xfrm>
          <a:custGeom>
            <a:avLst/>
            <a:gdLst/>
            <a:ahLst/>
            <a:cxnLst/>
            <a:rect r="r" b="b" t="t" l="l"/>
            <a:pathLst>
              <a:path h="5809722" w="8836078">
                <a:moveTo>
                  <a:pt x="0" y="0"/>
                </a:moveTo>
                <a:lnTo>
                  <a:pt x="8836079" y="0"/>
                </a:lnTo>
                <a:lnTo>
                  <a:pt x="8836079" y="5809722"/>
                </a:lnTo>
                <a:lnTo>
                  <a:pt x="0" y="58097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8740" y="1977313"/>
            <a:ext cx="10104450" cy="40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2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bentoml containerize building_energy_service:osv3p4q2ag74g6d3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8740" y="488910"/>
            <a:ext cx="5976126" cy="616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3"/>
              </a:lnSpc>
            </a:pPr>
            <a:r>
              <a:rPr lang="en-US" sz="3366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2.2 Créer une image Bento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8236" y="3185460"/>
            <a:ext cx="8260777" cy="576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6"/>
              </a:lnSpc>
            </a:pPr>
            <a:r>
              <a:rPr lang="en-US" sz="2526">
                <a:solidFill>
                  <a:srgbClr val="FCBF01"/>
                </a:solidFill>
                <a:latin typeface="Poppins"/>
                <a:ea typeface="Poppins"/>
                <a:cs typeface="Poppins"/>
                <a:sym typeface="Poppins"/>
              </a:rPr>
              <a:t>Que fait cette commande ?</a:t>
            </a:r>
          </a:p>
          <a:p>
            <a:pPr algn="l">
              <a:lnSpc>
                <a:spcPts val="3536"/>
              </a:lnSpc>
            </a:pPr>
            <a:r>
              <a:rPr lang="en-US" sz="25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1- Utilise le fichier bentofile.yaml pour :</a:t>
            </a:r>
          </a:p>
          <a:p>
            <a:pPr algn="l">
              <a:lnSpc>
                <a:spcPts val="3536"/>
              </a:lnSpc>
            </a:pPr>
          </a:p>
          <a:p>
            <a:pPr algn="l" marL="545429" indent="-272714" lvl="1">
              <a:lnSpc>
                <a:spcPts val="3536"/>
              </a:lnSpc>
              <a:buFont typeface="Arial"/>
              <a:buChar char="•"/>
            </a:pPr>
            <a:r>
              <a:rPr lang="en-US" sz="25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Identifier le nom du service</a:t>
            </a:r>
          </a:p>
          <a:p>
            <a:pPr algn="l" marL="545429" indent="-272714" lvl="1">
              <a:lnSpc>
                <a:spcPts val="3536"/>
              </a:lnSpc>
              <a:buFont typeface="Arial"/>
              <a:buChar char="•"/>
            </a:pPr>
            <a:r>
              <a:rPr lang="en-US" sz="25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Inclure les fichiers nécessaires</a:t>
            </a:r>
          </a:p>
          <a:p>
            <a:pPr algn="l" marL="545429" indent="-272714" lvl="1">
              <a:lnSpc>
                <a:spcPts val="3536"/>
              </a:lnSpc>
              <a:buFont typeface="Arial"/>
              <a:buChar char="•"/>
            </a:pPr>
            <a:r>
              <a:rPr lang="en-US" sz="25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Installer les dépendances Python</a:t>
            </a:r>
          </a:p>
          <a:p>
            <a:pPr algn="l">
              <a:lnSpc>
                <a:spcPts val="3536"/>
              </a:lnSpc>
            </a:pPr>
          </a:p>
          <a:p>
            <a:pPr algn="l">
              <a:lnSpc>
                <a:spcPts val="3536"/>
              </a:lnSpc>
            </a:pPr>
            <a:r>
              <a:rPr lang="en-US" sz="25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2- Construit une image Docker nommée :</a:t>
            </a:r>
          </a:p>
          <a:p>
            <a:pPr algn="l">
              <a:lnSpc>
                <a:spcPts val="3536"/>
              </a:lnSpc>
            </a:pPr>
          </a:p>
          <a:p>
            <a:pPr algn="l">
              <a:lnSpc>
                <a:spcPts val="3536"/>
              </a:lnSpc>
            </a:pPr>
            <a:r>
              <a:rPr lang="en-US" sz="25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Bento a été correctement containerisé en tant qu’image Docker :</a:t>
            </a:r>
          </a:p>
          <a:p>
            <a:pPr algn="l">
              <a:lnSpc>
                <a:spcPts val="3536"/>
              </a:lnSpc>
            </a:pPr>
            <a:r>
              <a:rPr lang="en-US" sz="25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building_energy_service:osv3p4q2ag74g6d3</a:t>
            </a:r>
          </a:p>
          <a:p>
            <a:pPr algn="l">
              <a:lnSpc>
                <a:spcPts val="353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78740" y="1415889"/>
            <a:ext cx="6676450" cy="503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8"/>
              </a:lnSpc>
            </a:pPr>
            <a:r>
              <a:rPr lang="en-US" b="true" sz="2748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Commande à exécuter :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41884" y="1873457"/>
            <a:ext cx="10622502" cy="6014992"/>
          </a:xfrm>
          <a:custGeom>
            <a:avLst/>
            <a:gdLst/>
            <a:ahLst/>
            <a:cxnLst/>
            <a:rect r="r" b="b" t="t" l="l"/>
            <a:pathLst>
              <a:path h="6014992" w="10622502">
                <a:moveTo>
                  <a:pt x="0" y="0"/>
                </a:moveTo>
                <a:lnTo>
                  <a:pt x="10622502" y="0"/>
                </a:lnTo>
                <a:lnTo>
                  <a:pt x="10622502" y="6014991"/>
                </a:lnTo>
                <a:lnTo>
                  <a:pt x="0" y="60149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37964"/>
            <a:ext cx="9596866" cy="487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5"/>
              </a:lnSpc>
            </a:pPr>
            <a:r>
              <a:rPr lang="en-US" sz="2704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BentoML a construit une image Docker contenant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2430" y="2134375"/>
            <a:ext cx="6174819" cy="3699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AFA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Toute</a:t>
            </a:r>
            <a:r>
              <a:rPr lang="en-US" b="true" sz="2100">
                <a:solidFill>
                  <a:srgbClr val="FAFA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la logique définie dans service.py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AFA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</a:t>
            </a:r>
            <a:r>
              <a:rPr lang="en-US" b="true" sz="2100">
                <a:solidFill>
                  <a:srgbClr val="FAFA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 modèles enregistrés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AFA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Toutes </a:t>
            </a:r>
            <a:r>
              <a:rPr lang="en-US" b="true" sz="2100">
                <a:solidFill>
                  <a:srgbClr val="FAFA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les dépendances nécessaires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AFA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 serveur</a:t>
            </a:r>
            <a:r>
              <a:rPr lang="en-US" b="true" sz="2100">
                <a:solidFill>
                  <a:srgbClr val="FAFA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BentoML prêt pour la production, intégré dans l’image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210032"/>
            <a:ext cx="4958837" cy="487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5"/>
              </a:lnSpc>
            </a:pPr>
            <a:r>
              <a:rPr lang="en-US" sz="2704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L’image est taguée comme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911809"/>
            <a:ext cx="611318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AFA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building_energy_service:osv3p4q</a:t>
            </a:r>
            <a:r>
              <a:rPr lang="en-US" sz="2100" b="true">
                <a:solidFill>
                  <a:srgbClr val="FAFA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2ag74g6d3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49952" y="2316236"/>
            <a:ext cx="9855387" cy="5654529"/>
          </a:xfrm>
          <a:custGeom>
            <a:avLst/>
            <a:gdLst/>
            <a:ahLst/>
            <a:cxnLst/>
            <a:rect r="r" b="b" t="t" l="l"/>
            <a:pathLst>
              <a:path h="5654529" w="9855387">
                <a:moveTo>
                  <a:pt x="0" y="0"/>
                </a:moveTo>
                <a:lnTo>
                  <a:pt x="9855387" y="0"/>
                </a:lnTo>
                <a:lnTo>
                  <a:pt x="9855387" y="5654528"/>
                </a:lnTo>
                <a:lnTo>
                  <a:pt x="0" y="5654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0677" y="97084"/>
            <a:ext cx="8783079" cy="122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4"/>
              </a:lnSpc>
            </a:pPr>
            <a:r>
              <a:rPr lang="en-US" sz="6731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GCP - Google cloud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4764" y="2220986"/>
            <a:ext cx="7083543" cy="58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0"/>
              </a:lnSpc>
            </a:pPr>
            <a:r>
              <a:rPr lang="en-US" sz="3221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Créez un compte Google Cloud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3119" y="3324902"/>
            <a:ext cx="7246832" cy="4300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5587" indent="-262794" lvl="1">
              <a:lnSpc>
                <a:spcPts val="3408"/>
              </a:lnSpc>
              <a:buFont typeface="Arial"/>
              <a:buChar char="•"/>
            </a:pPr>
            <a:r>
              <a:rPr lang="en-US" sz="24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Accédez à : </a:t>
            </a:r>
            <a:r>
              <a:rPr lang="en-US" sz="243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3" tooltip="https://cloud.google.com"/>
              </a:rPr>
              <a:t>https://cloud.google.com</a:t>
            </a:r>
          </a:p>
          <a:p>
            <a:pPr algn="l">
              <a:lnSpc>
                <a:spcPts val="3408"/>
              </a:lnSpc>
            </a:pPr>
          </a:p>
          <a:p>
            <a:pPr algn="l" marL="525587" indent="-262794" lvl="1">
              <a:lnSpc>
                <a:spcPts val="3408"/>
              </a:lnSpc>
              <a:buFont typeface="Arial"/>
              <a:buChar char="•"/>
            </a:pPr>
            <a:r>
              <a:rPr lang="en-US" sz="24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Créez</a:t>
            </a:r>
            <a:r>
              <a:rPr lang="en-US" sz="24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votre compte et commencez avec l’offre gratuite (vous recevez 300 $ de crédits)</a:t>
            </a:r>
          </a:p>
          <a:p>
            <a:pPr algn="l">
              <a:lnSpc>
                <a:spcPts val="3408"/>
              </a:lnSpc>
            </a:pPr>
          </a:p>
          <a:p>
            <a:pPr algn="l" marL="525587" indent="-262794" lvl="1">
              <a:lnSpc>
                <a:spcPts val="3408"/>
              </a:lnSpc>
              <a:buFont typeface="Arial"/>
              <a:buChar char="•"/>
            </a:pPr>
            <a:r>
              <a:rPr lang="en-US" sz="24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 du projet : My First Project</a:t>
            </a:r>
          </a:p>
          <a:p>
            <a:pPr algn="l">
              <a:lnSpc>
                <a:spcPts val="3408"/>
              </a:lnSpc>
            </a:pPr>
          </a:p>
          <a:p>
            <a:pPr algn="l" marL="525587" indent="-262794" lvl="1">
              <a:lnSpc>
                <a:spcPts val="3408"/>
              </a:lnSpc>
              <a:buFont typeface="Arial"/>
              <a:buChar char="•"/>
            </a:pPr>
            <a:r>
              <a:rPr lang="en-US" sz="24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 du projet : plucky-respect-456411-e6</a:t>
            </a:r>
          </a:p>
          <a:p>
            <a:pPr algn="l">
              <a:lnSpc>
                <a:spcPts val="3408"/>
              </a:lnSpc>
            </a:pP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20562" y="1583781"/>
            <a:ext cx="5746096" cy="2570622"/>
          </a:xfrm>
          <a:custGeom>
            <a:avLst/>
            <a:gdLst/>
            <a:ahLst/>
            <a:cxnLst/>
            <a:rect r="r" b="b" t="t" l="l"/>
            <a:pathLst>
              <a:path h="2570622" w="5746096">
                <a:moveTo>
                  <a:pt x="0" y="0"/>
                </a:moveTo>
                <a:lnTo>
                  <a:pt x="5746096" y="0"/>
                </a:lnTo>
                <a:lnTo>
                  <a:pt x="5746096" y="2570622"/>
                </a:lnTo>
                <a:lnTo>
                  <a:pt x="0" y="2570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6248" y="125072"/>
            <a:ext cx="9317917" cy="1295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8"/>
              </a:lnSpc>
            </a:pPr>
            <a:r>
              <a:rPr lang="en-US" sz="7141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GCP - Google cloud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83786"/>
            <a:ext cx="16230600" cy="7174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538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Installer Google Cloud SDK (gcloud) sur macOS :</a:t>
            </a:r>
          </a:p>
          <a:p>
            <a:pPr algn="l">
              <a:lnSpc>
                <a:spcPts val="3554"/>
              </a:lnSpc>
            </a:pPr>
          </a:p>
          <a:p>
            <a:pPr algn="l">
              <a:lnSpc>
                <a:spcPts val="3554"/>
              </a:lnSpc>
            </a:pPr>
            <a:r>
              <a:rPr lang="en-US" sz="2538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</a:t>
            </a:r>
            <a:r>
              <a:rPr lang="en-US" sz="253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brew install --cask google-cloud-sdk</a:t>
            </a:r>
          </a:p>
          <a:p>
            <a:pPr algn="l">
              <a:lnSpc>
                <a:spcPts val="3554"/>
              </a:lnSpc>
            </a:pPr>
          </a:p>
          <a:p>
            <a:pPr algn="l">
              <a:lnSpc>
                <a:spcPts val="3554"/>
              </a:lnSpc>
            </a:pPr>
            <a:r>
              <a:rPr lang="en-US" sz="2538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SDK </a:t>
            </a:r>
            <a:r>
              <a:rPr lang="en-US" sz="25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 Software Development Kit.</a:t>
            </a:r>
          </a:p>
          <a:p>
            <a:pPr algn="l">
              <a:lnSpc>
                <a:spcPts val="3554"/>
              </a:lnSpc>
            </a:pPr>
          </a:p>
          <a:p>
            <a:pPr algn="l">
              <a:lnSpc>
                <a:spcPts val="3554"/>
              </a:lnSpc>
            </a:pPr>
            <a:r>
              <a:rPr lang="en-US" sz="25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Cloud SDK est un ensemble d’outils permettant d’interagir avec vos ressources Google Cloud depuis le terminal.</a:t>
            </a:r>
          </a:p>
          <a:p>
            <a:pPr algn="l">
              <a:lnSpc>
                <a:spcPts val="3554"/>
              </a:lnSpc>
            </a:pPr>
          </a:p>
          <a:p>
            <a:pPr algn="l">
              <a:lnSpc>
                <a:spcPts val="3554"/>
              </a:lnSpc>
            </a:pPr>
            <a:r>
              <a:rPr lang="en-US" sz="25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 inclut l’outil en ligne de commande gcloud, qui permet de :</a:t>
            </a:r>
          </a:p>
          <a:p>
            <a:pPr algn="l" marL="548127" indent="-274064" lvl="1">
              <a:lnSpc>
                <a:spcPts val="3554"/>
              </a:lnSpc>
              <a:buFont typeface="Arial"/>
              <a:buChar char="•"/>
            </a:pPr>
            <a:r>
              <a:rPr lang="en-US" sz="25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Déployer des applications sur Cloud Run</a:t>
            </a:r>
          </a:p>
          <a:p>
            <a:pPr algn="l" marL="548127" indent="-274064" lvl="1">
              <a:lnSpc>
                <a:spcPts val="3554"/>
              </a:lnSpc>
              <a:buFont typeface="Arial"/>
              <a:buChar char="•"/>
            </a:pPr>
            <a:r>
              <a:rPr lang="en-US" sz="25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Gér</a:t>
            </a:r>
            <a:r>
              <a:rPr lang="en-US" sz="25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 vos projets</a:t>
            </a:r>
          </a:p>
          <a:p>
            <a:pPr algn="l" marL="548127" indent="-274064" lvl="1">
              <a:lnSpc>
                <a:spcPts val="3554"/>
              </a:lnSpc>
              <a:buFont typeface="Arial"/>
              <a:buChar char="•"/>
            </a:pPr>
            <a:r>
              <a:rPr lang="en-US" sz="25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Pousser des images Docker</a:t>
            </a:r>
          </a:p>
          <a:p>
            <a:pPr algn="l" marL="548127" indent="-274064" lvl="1">
              <a:lnSpc>
                <a:spcPts val="3554"/>
              </a:lnSpc>
              <a:buFont typeface="Arial"/>
              <a:buChar char="•"/>
            </a:pPr>
            <a:r>
              <a:rPr lang="en-US" sz="25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Accéder aux logs</a:t>
            </a:r>
          </a:p>
          <a:p>
            <a:pPr algn="l" marL="1096255" indent="-365418" lvl="2">
              <a:lnSpc>
                <a:spcPts val="3554"/>
              </a:lnSpc>
              <a:buFont typeface="Arial"/>
              <a:buChar char="⚬"/>
            </a:pPr>
          </a:p>
          <a:p>
            <a:pPr algn="l">
              <a:lnSpc>
                <a:spcPts val="3554"/>
              </a:lnSpc>
            </a:pP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99923" y="491408"/>
            <a:ext cx="8214321" cy="2720994"/>
          </a:xfrm>
          <a:custGeom>
            <a:avLst/>
            <a:gdLst/>
            <a:ahLst/>
            <a:cxnLst/>
            <a:rect r="r" b="b" t="t" l="l"/>
            <a:pathLst>
              <a:path h="2720994" w="8214321">
                <a:moveTo>
                  <a:pt x="0" y="0"/>
                </a:moveTo>
                <a:lnTo>
                  <a:pt x="8214320" y="0"/>
                </a:lnTo>
                <a:lnTo>
                  <a:pt x="8214320" y="2720994"/>
                </a:lnTo>
                <a:lnTo>
                  <a:pt x="0" y="2720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60896" y="3333172"/>
            <a:ext cx="6473570" cy="6665194"/>
          </a:xfrm>
          <a:custGeom>
            <a:avLst/>
            <a:gdLst/>
            <a:ahLst/>
            <a:cxnLst/>
            <a:rect r="r" b="b" t="t" l="l"/>
            <a:pathLst>
              <a:path h="6665194" w="6473570">
                <a:moveTo>
                  <a:pt x="0" y="0"/>
                </a:moveTo>
                <a:lnTo>
                  <a:pt x="6473570" y="0"/>
                </a:lnTo>
                <a:lnTo>
                  <a:pt x="6473570" y="6665194"/>
                </a:lnTo>
                <a:lnTo>
                  <a:pt x="0" y="66651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303718"/>
            <a:ext cx="3876078" cy="102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1"/>
              </a:lnSpc>
            </a:pPr>
            <a:r>
              <a:rPr lang="en-US" sz="2887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initialize:         </a:t>
            </a:r>
            <a:r>
              <a:rPr lang="en-US" sz="288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l">
              <a:lnSpc>
                <a:spcPts val="4041"/>
              </a:lnSpc>
            </a:pPr>
            <a:r>
              <a:rPr lang="en-US" sz="288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gcloud init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917067"/>
            <a:ext cx="8962780" cy="374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2"/>
              </a:lnSpc>
            </a:pPr>
            <a:r>
              <a:rPr lang="en-US" sz="2704" b="true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Ce que f</a:t>
            </a:r>
            <a:r>
              <a:rPr lang="en-US" b="true" sz="2704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ait gcloud init</a:t>
            </a:r>
          </a:p>
          <a:p>
            <a:pPr algn="l" marL="583816" indent="-291908" lvl="1">
              <a:lnSpc>
                <a:spcPts val="5002"/>
              </a:lnSpc>
              <a:buFont typeface="Arial"/>
              <a:buChar char="•"/>
            </a:pPr>
            <a:r>
              <a:rPr lang="en-US" sz="270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Authentifie votre compte Google</a:t>
            </a:r>
          </a:p>
          <a:p>
            <a:pPr algn="l" marL="583816" indent="-291908" lvl="1">
              <a:lnSpc>
                <a:spcPts val="5002"/>
              </a:lnSpc>
              <a:buFont typeface="Arial"/>
              <a:buChar char="•"/>
            </a:pPr>
            <a:r>
              <a:rPr lang="en-US" sz="270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Définit le projet par défaut</a:t>
            </a:r>
          </a:p>
          <a:p>
            <a:pPr algn="l" marL="583816" indent="-291908" lvl="1">
              <a:lnSpc>
                <a:spcPts val="5002"/>
              </a:lnSpc>
              <a:buFont typeface="Arial"/>
              <a:buChar char="•"/>
            </a:pPr>
            <a:r>
              <a:rPr lang="en-US" sz="270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Configure une région par défaut</a:t>
            </a:r>
          </a:p>
          <a:p>
            <a:pPr algn="l" marL="583816" indent="-291908" lvl="1">
              <a:lnSpc>
                <a:spcPts val="5002"/>
              </a:lnSpc>
              <a:buFont typeface="Arial"/>
              <a:buChar char="•"/>
            </a:pPr>
            <a:r>
              <a:rPr lang="en-US" sz="270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Prépare votre environnement pour pousser des images Docker et déployer sur Cloud Run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0839" y="7005489"/>
            <a:ext cx="10126930" cy="834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  <a:spcBef>
                <a:spcPct val="0"/>
              </a:spcBef>
            </a:pPr>
            <a:r>
              <a:rPr lang="en-US" b="true" sz="2349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Configurer l’authentification Docker pour GCP Container Registry :</a:t>
            </a:r>
          </a:p>
          <a:p>
            <a:pPr algn="l">
              <a:lnSpc>
                <a:spcPts val="3289"/>
              </a:lnSpc>
              <a:spcBef>
                <a:spcPct val="0"/>
              </a:spcBef>
            </a:pPr>
            <a:r>
              <a:rPr lang="en-US" b="true" sz="23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gcloud auth configure-docker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2700" y="8562100"/>
            <a:ext cx="7797478" cy="960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5"/>
              </a:lnSpc>
              <a:spcBef>
                <a:spcPct val="0"/>
              </a:spcBef>
            </a:pPr>
            <a:r>
              <a:rPr lang="en-US" b="true" sz="2704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     P</a:t>
            </a:r>
            <a:r>
              <a:rPr lang="en-US" b="true" sz="2704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roject ID: </a:t>
            </a:r>
            <a:r>
              <a:rPr lang="en-US" sz="270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plucky-respect-456411-e6</a:t>
            </a:r>
          </a:p>
          <a:p>
            <a:pPr algn="l">
              <a:lnSpc>
                <a:spcPts val="3785"/>
              </a:lnSpc>
              <a:spcBef>
                <a:spcPct val="0"/>
              </a:spcBef>
            </a:pPr>
            <a:r>
              <a:rPr lang="en-US" b="true" sz="2704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     GCR path: </a:t>
            </a:r>
            <a:r>
              <a:rPr lang="en-US" sz="270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gcr.io/plucky-respect-456411-e6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03558"/>
            <a:ext cx="14987720" cy="118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  <a:spcBef>
                <a:spcPct val="0"/>
              </a:spcBef>
            </a:pPr>
            <a:r>
              <a:rPr lang="en-US" b="true" sz="2787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1. Ta</a:t>
            </a:r>
            <a:r>
              <a:rPr lang="en-US" b="true" sz="2787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guer l’image Docker</a:t>
            </a:r>
            <a:r>
              <a:rPr lang="en-US" b="true" sz="27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</a:t>
            </a:r>
          </a:p>
          <a:p>
            <a:pPr algn="l">
              <a:lnSpc>
                <a:spcPts val="2642"/>
              </a:lnSpc>
              <a:spcBef>
                <a:spcPct val="0"/>
              </a:spcBef>
            </a:pPr>
            <a:r>
              <a:rPr lang="en-US" b="true" sz="18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docker</a:t>
            </a:r>
            <a:r>
              <a:rPr lang="en-US" b="true" sz="18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tag building_energy_service:osv3p4q2ag74g6d3 gcr.io/plucky-respect-456411-e6/building_energy_service</a:t>
            </a:r>
          </a:p>
          <a:p>
            <a:pPr algn="l">
              <a:lnSpc>
                <a:spcPts val="2642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671930" y="2356300"/>
            <a:ext cx="2526602" cy="2009787"/>
          </a:xfrm>
          <a:custGeom>
            <a:avLst/>
            <a:gdLst/>
            <a:ahLst/>
            <a:cxnLst/>
            <a:rect r="r" b="b" t="t" l="l"/>
            <a:pathLst>
              <a:path h="2009787" w="2526602">
                <a:moveTo>
                  <a:pt x="0" y="0"/>
                </a:moveTo>
                <a:lnTo>
                  <a:pt x="2526602" y="0"/>
                </a:lnTo>
                <a:lnTo>
                  <a:pt x="2526602" y="2009787"/>
                </a:lnTo>
                <a:lnTo>
                  <a:pt x="0" y="2009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914" r="-100603" b="-5763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1302" y="4153381"/>
            <a:ext cx="8756645" cy="5823169"/>
          </a:xfrm>
          <a:custGeom>
            <a:avLst/>
            <a:gdLst/>
            <a:ahLst/>
            <a:cxnLst/>
            <a:rect r="r" b="b" t="t" l="l"/>
            <a:pathLst>
              <a:path h="5823169" w="8756645">
                <a:moveTo>
                  <a:pt x="0" y="0"/>
                </a:moveTo>
                <a:lnTo>
                  <a:pt x="8756646" y="0"/>
                </a:lnTo>
                <a:lnTo>
                  <a:pt x="8756646" y="5823169"/>
                </a:lnTo>
                <a:lnTo>
                  <a:pt x="0" y="5823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83641" y="5522187"/>
            <a:ext cx="8300823" cy="4617333"/>
          </a:xfrm>
          <a:custGeom>
            <a:avLst/>
            <a:gdLst/>
            <a:ahLst/>
            <a:cxnLst/>
            <a:rect r="r" b="b" t="t" l="l"/>
            <a:pathLst>
              <a:path h="4617333" w="8300823">
                <a:moveTo>
                  <a:pt x="0" y="0"/>
                </a:moveTo>
                <a:lnTo>
                  <a:pt x="8300823" y="0"/>
                </a:lnTo>
                <a:lnTo>
                  <a:pt x="8300823" y="4617333"/>
                </a:lnTo>
                <a:lnTo>
                  <a:pt x="0" y="4617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85154"/>
            <a:ext cx="7493860" cy="684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1"/>
              </a:lnSpc>
            </a:pPr>
            <a:r>
              <a:rPr lang="en-US" sz="3787" b="true">
                <a:solidFill>
                  <a:srgbClr val="F1C024"/>
                </a:solidFill>
                <a:latin typeface="Poppins Bold"/>
                <a:ea typeface="Poppins Bold"/>
                <a:cs typeface="Poppins Bold"/>
                <a:sym typeface="Poppins Bold"/>
              </a:rPr>
              <a:t>Déployer votre image Docker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721767"/>
            <a:ext cx="9216167" cy="109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2"/>
              </a:lnSpc>
              <a:spcBef>
                <a:spcPct val="0"/>
              </a:spcBef>
            </a:pPr>
            <a:r>
              <a:rPr lang="en-US" b="true" sz="2387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2. Pouss</a:t>
            </a:r>
            <a:r>
              <a:rPr lang="en-US" b="true" sz="2387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er l’image vers Google Container Registry (GCR)</a:t>
            </a:r>
          </a:p>
          <a:p>
            <a:pPr algn="l">
              <a:lnSpc>
                <a:spcPts val="2642"/>
              </a:lnSpc>
              <a:spcBef>
                <a:spcPct val="0"/>
              </a:spcBef>
            </a:pPr>
            <a:r>
              <a:rPr lang="en-US" b="true" sz="18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docker push gcr.io/plucky-respect-456411-e6/building_energy_service</a:t>
            </a:r>
          </a:p>
          <a:p>
            <a:pPr algn="l">
              <a:lnSpc>
                <a:spcPts val="2642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582462" y="4537537"/>
            <a:ext cx="8503181" cy="75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  <a:spcBef>
                <a:spcPct val="0"/>
              </a:spcBef>
            </a:pPr>
            <a:r>
              <a:rPr lang="en-US" b="true" sz="2140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L’image D</a:t>
            </a:r>
            <a:r>
              <a:rPr lang="en-US" b="true" sz="2140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ocker est maintenant disponible dans le Google Container Registry.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46195" y="3593490"/>
            <a:ext cx="10230831" cy="6189653"/>
          </a:xfrm>
          <a:custGeom>
            <a:avLst/>
            <a:gdLst/>
            <a:ahLst/>
            <a:cxnLst/>
            <a:rect r="r" b="b" t="t" l="l"/>
            <a:pathLst>
              <a:path h="6189653" w="10230831">
                <a:moveTo>
                  <a:pt x="0" y="0"/>
                </a:moveTo>
                <a:lnTo>
                  <a:pt x="10230831" y="0"/>
                </a:lnTo>
                <a:lnTo>
                  <a:pt x="10230831" y="6189653"/>
                </a:lnTo>
                <a:lnTo>
                  <a:pt x="0" y="61896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52500"/>
            <a:ext cx="10880727" cy="48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2"/>
              </a:lnSpc>
              <a:spcBef>
                <a:spcPct val="0"/>
              </a:spcBef>
            </a:pPr>
            <a:r>
              <a:rPr lang="en-US" b="true" sz="2687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3. Déploy</a:t>
            </a:r>
            <a:r>
              <a:rPr lang="en-US" b="true" sz="2687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er l’image sur Cloud Run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75168" y="1518230"/>
            <a:ext cx="11624157" cy="255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  <a:spcBef>
                <a:spcPct val="0"/>
              </a:spcBef>
            </a:pPr>
            <a:r>
              <a:rPr lang="en-US" b="true" sz="209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gcloud run deploy building-energy-service \</a:t>
            </a:r>
          </a:p>
          <a:p>
            <a:pPr algn="l">
              <a:lnSpc>
                <a:spcPts val="2926"/>
              </a:lnSpc>
              <a:spcBef>
                <a:spcPct val="0"/>
              </a:spcBef>
            </a:pPr>
            <a:r>
              <a:rPr lang="en-US" b="true" sz="209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09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--image gcr.io/plucky-respect-456411-e6/building_energy_service \</a:t>
            </a:r>
          </a:p>
          <a:p>
            <a:pPr algn="l">
              <a:lnSpc>
                <a:spcPts val="2926"/>
              </a:lnSpc>
              <a:spcBef>
                <a:spcPct val="0"/>
              </a:spcBef>
            </a:pPr>
            <a:r>
              <a:rPr lang="en-US" b="true" sz="209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--platform managed \</a:t>
            </a:r>
          </a:p>
          <a:p>
            <a:pPr algn="l">
              <a:lnSpc>
                <a:spcPts val="2926"/>
              </a:lnSpc>
              <a:spcBef>
                <a:spcPct val="0"/>
              </a:spcBef>
            </a:pPr>
            <a:r>
              <a:rPr lang="en-US" b="true" sz="209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--region europe-west1 \</a:t>
            </a:r>
          </a:p>
          <a:p>
            <a:pPr algn="l">
              <a:lnSpc>
                <a:spcPts val="2926"/>
              </a:lnSpc>
              <a:spcBef>
                <a:spcPct val="0"/>
              </a:spcBef>
            </a:pPr>
            <a:r>
              <a:rPr lang="en-US" b="true" sz="209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09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--allow-unauthenticated \</a:t>
            </a:r>
          </a:p>
          <a:p>
            <a:pPr algn="l">
              <a:lnSpc>
                <a:spcPts val="2926"/>
              </a:lnSpc>
              <a:spcBef>
                <a:spcPct val="0"/>
              </a:spcBef>
            </a:pPr>
            <a:r>
              <a:rPr lang="en-US" b="true" sz="209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--memory 1Gi</a:t>
            </a:r>
          </a:p>
          <a:p>
            <a:pPr algn="l">
              <a:lnSpc>
                <a:spcPts val="249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64454" y="2097982"/>
            <a:ext cx="8249028" cy="5801105"/>
          </a:xfrm>
          <a:custGeom>
            <a:avLst/>
            <a:gdLst/>
            <a:ahLst/>
            <a:cxnLst/>
            <a:rect r="r" b="b" t="t" l="l"/>
            <a:pathLst>
              <a:path h="5801105" w="8249028">
                <a:moveTo>
                  <a:pt x="0" y="0"/>
                </a:moveTo>
                <a:lnTo>
                  <a:pt x="8249028" y="0"/>
                </a:lnTo>
                <a:lnTo>
                  <a:pt x="8249028" y="5801105"/>
                </a:lnTo>
                <a:lnTo>
                  <a:pt x="0" y="580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36" t="-3417" r="-5393" b="-124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86741" y="7817389"/>
            <a:ext cx="11301259" cy="1440911"/>
          </a:xfrm>
          <a:custGeom>
            <a:avLst/>
            <a:gdLst/>
            <a:ahLst/>
            <a:cxnLst/>
            <a:rect r="r" b="b" t="t" l="l"/>
            <a:pathLst>
              <a:path h="1440911" w="11301259">
                <a:moveTo>
                  <a:pt x="0" y="0"/>
                </a:moveTo>
                <a:lnTo>
                  <a:pt x="11301259" y="0"/>
                </a:lnTo>
                <a:lnTo>
                  <a:pt x="11301259" y="1440911"/>
                </a:lnTo>
                <a:lnTo>
                  <a:pt x="0" y="14409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49698"/>
            <a:ext cx="16230600" cy="147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8"/>
              </a:lnSpc>
            </a:pPr>
            <a:r>
              <a:rPr lang="en-US" sz="2485" b="true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Le modèle a maintenant été déployé avec succès sur GCP Cloud Run et est accessible publiquement à l’adresse suivante :</a:t>
            </a:r>
          </a:p>
          <a:p>
            <a:pPr algn="l">
              <a:lnSpc>
                <a:spcPts val="4266"/>
              </a:lnSpc>
              <a:spcBef>
                <a:spcPct val="0"/>
              </a:spcBef>
            </a:pPr>
            <a:r>
              <a:rPr lang="en-US" sz="28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4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4" tooltip="https://building-energy-api-752730965616.europe-west1.run.app"/>
              </a:rPr>
              <a:t>https://building-energy-api-752730965616.europe-west1.run.app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1539" y="2427203"/>
            <a:ext cx="4523107" cy="507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191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input : </a:t>
            </a:r>
          </a:p>
          <a:p>
            <a:pPr algn="l">
              <a:lnSpc>
                <a:spcPts val="2878"/>
              </a:lnSpc>
              <a:spcBef>
                <a:spcPct val="0"/>
              </a:spcBef>
            </a:pPr>
            <a:r>
              <a:rPr lang="en-US" b="true" sz="19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{</a:t>
            </a:r>
          </a:p>
          <a:p>
            <a:pPr algn="l">
              <a:lnSpc>
                <a:spcPts val="2878"/>
              </a:lnSpc>
              <a:spcBef>
                <a:spcPct val="0"/>
              </a:spcBef>
            </a:pPr>
            <a:r>
              <a:rPr lang="en-US" b="true" sz="19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"PropertyGFATotal": 25000,</a:t>
            </a:r>
          </a:p>
          <a:p>
            <a:pPr algn="l">
              <a:lnSpc>
                <a:spcPts val="2878"/>
              </a:lnSpc>
              <a:spcBef>
                <a:spcPct val="0"/>
              </a:spcBef>
            </a:pPr>
            <a:r>
              <a:rPr lang="en-US" b="true" sz="19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"LargestPropertyUseType": "Office",</a:t>
            </a:r>
          </a:p>
          <a:p>
            <a:pPr algn="l">
              <a:lnSpc>
                <a:spcPts val="2878"/>
              </a:lnSpc>
              <a:spcBef>
                <a:spcPct val="0"/>
              </a:spcBef>
            </a:pPr>
            <a:r>
              <a:rPr lang="en-US" b="true" sz="19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"ENERGYSTARScore": 75,</a:t>
            </a:r>
          </a:p>
          <a:p>
            <a:pPr algn="l">
              <a:lnSpc>
                <a:spcPts val="2878"/>
              </a:lnSpc>
              <a:spcBef>
                <a:spcPct val="0"/>
              </a:spcBef>
            </a:pPr>
            <a:r>
              <a:rPr lang="en-US" b="true" sz="19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"PropertyGFABuilding_s": 20000,</a:t>
            </a:r>
          </a:p>
          <a:p>
            <a:pPr algn="l">
              <a:lnSpc>
                <a:spcPts val="2878"/>
              </a:lnSpc>
              <a:spcBef>
                <a:spcPct val="0"/>
              </a:spcBef>
            </a:pPr>
            <a:r>
              <a:rPr lang="en-US" b="true" sz="19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"ElectricityRatio": 0.6,</a:t>
            </a:r>
          </a:p>
          <a:p>
            <a:pPr algn="l">
              <a:lnSpc>
                <a:spcPts val="2878"/>
              </a:lnSpc>
              <a:spcBef>
                <a:spcPct val="0"/>
              </a:spcBef>
            </a:pPr>
            <a:r>
              <a:rPr lang="en-US" b="true" sz="19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"SurfacePerBuilding": 18000,</a:t>
            </a:r>
          </a:p>
          <a:p>
            <a:pPr algn="l">
              <a:lnSpc>
                <a:spcPts val="2878"/>
              </a:lnSpc>
              <a:spcBef>
                <a:spcPct val="0"/>
              </a:spcBef>
            </a:pPr>
            <a:r>
              <a:rPr lang="en-US" b="true" sz="19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"building_age": 25,</a:t>
            </a:r>
          </a:p>
          <a:p>
            <a:pPr algn="l">
              <a:lnSpc>
                <a:spcPts val="2878"/>
              </a:lnSpc>
              <a:spcBef>
                <a:spcPct val="0"/>
              </a:spcBef>
            </a:pPr>
            <a:r>
              <a:rPr lang="en-US" b="true" sz="19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"NaturalGasRatio": 0.2,</a:t>
            </a:r>
          </a:p>
          <a:p>
            <a:pPr algn="l">
              <a:lnSpc>
                <a:spcPts val="2878"/>
              </a:lnSpc>
              <a:spcBef>
                <a:spcPct val="0"/>
              </a:spcBef>
            </a:pPr>
            <a:r>
              <a:rPr lang="en-US" b="true" sz="19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"SurfacePerFloor": 6000,</a:t>
            </a:r>
          </a:p>
          <a:p>
            <a:pPr algn="l">
              <a:lnSpc>
                <a:spcPts val="2878"/>
              </a:lnSpc>
              <a:spcBef>
                <a:spcPct val="0"/>
              </a:spcBef>
            </a:pPr>
            <a:r>
              <a:rPr lang="en-US" b="true" sz="19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"NumberofFloors": 3,</a:t>
            </a:r>
          </a:p>
          <a:p>
            <a:pPr algn="l">
              <a:lnSpc>
                <a:spcPts val="2878"/>
              </a:lnSpc>
              <a:spcBef>
                <a:spcPct val="0"/>
              </a:spcBef>
            </a:pPr>
            <a:r>
              <a:rPr lang="en-US" b="true" sz="19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"SteamRatio": 0.1</a:t>
            </a:r>
          </a:p>
          <a:p>
            <a:pPr algn="l">
              <a:lnSpc>
                <a:spcPts val="2878"/>
              </a:lnSpc>
              <a:spcBef>
                <a:spcPct val="0"/>
              </a:spcBef>
            </a:pPr>
            <a:r>
              <a:rPr lang="en-US" b="true" sz="19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4964" y="7741189"/>
            <a:ext cx="6471937" cy="2058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0"/>
              </a:lnSpc>
              <a:spcBef>
                <a:spcPct val="0"/>
              </a:spcBef>
            </a:pPr>
            <a:r>
              <a:rPr lang="en-US" b="true" sz="1807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Response body</a:t>
            </a:r>
          </a:p>
          <a:p>
            <a:pPr algn="l">
              <a:lnSpc>
                <a:spcPts val="2710"/>
              </a:lnSpc>
              <a:spcBef>
                <a:spcPct val="0"/>
              </a:spcBef>
            </a:pPr>
            <a:r>
              <a:rPr lang="en-US" b="true" sz="1807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{</a:t>
            </a:r>
          </a:p>
          <a:p>
            <a:pPr algn="l">
              <a:lnSpc>
                <a:spcPts val="2710"/>
              </a:lnSpc>
              <a:spcBef>
                <a:spcPct val="0"/>
              </a:spcBef>
            </a:pPr>
            <a:r>
              <a:rPr lang="en-US" b="true" sz="1807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  "predicted_SiteEnergyUse(kBtu)": 13.82921000250296,</a:t>
            </a:r>
          </a:p>
          <a:p>
            <a:pPr algn="l">
              <a:lnSpc>
                <a:spcPts val="2710"/>
              </a:lnSpc>
              <a:spcBef>
                <a:spcPct val="0"/>
              </a:spcBef>
            </a:pPr>
            <a:r>
              <a:rPr lang="en-US" b="true" sz="1807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  "predicted_TotalGHGEmissions": 3.613707555306789</a:t>
            </a:r>
          </a:p>
          <a:p>
            <a:pPr algn="l">
              <a:lnSpc>
                <a:spcPts val="2710"/>
              </a:lnSpc>
              <a:spcBef>
                <a:spcPct val="0"/>
              </a:spcBef>
            </a:pPr>
            <a:r>
              <a:rPr lang="en-US" b="true" sz="1807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}</a:t>
            </a:r>
          </a:p>
          <a:p>
            <a:pPr algn="l">
              <a:lnSpc>
                <a:spcPts val="271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3463" y="5272630"/>
            <a:ext cx="14584441" cy="4612329"/>
          </a:xfrm>
          <a:custGeom>
            <a:avLst/>
            <a:gdLst/>
            <a:ahLst/>
            <a:cxnLst/>
            <a:rect r="r" b="b" t="t" l="l"/>
            <a:pathLst>
              <a:path h="4612329" w="14584441">
                <a:moveTo>
                  <a:pt x="0" y="0"/>
                </a:moveTo>
                <a:lnTo>
                  <a:pt x="14584441" y="0"/>
                </a:lnTo>
                <a:lnTo>
                  <a:pt x="14584441" y="4612329"/>
                </a:lnTo>
                <a:lnTo>
                  <a:pt x="0" y="4612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540106"/>
            <a:ext cx="7766992" cy="3431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7"/>
              </a:lnSpc>
              <a:spcBef>
                <a:spcPct val="0"/>
              </a:spcBef>
            </a:pPr>
            <a:r>
              <a:rPr lang="en-US" b="true" sz="15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{</a:t>
            </a:r>
          </a:p>
          <a:p>
            <a:pPr algn="l">
              <a:lnSpc>
                <a:spcPts val="2107"/>
              </a:lnSpc>
              <a:spcBef>
                <a:spcPct val="0"/>
              </a:spcBef>
            </a:pPr>
            <a:r>
              <a:rPr lang="en-US" b="true" sz="15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"PropertyGFATotal": "twenty five thousand",  // ❌ should be a number (float)</a:t>
            </a:r>
          </a:p>
          <a:p>
            <a:pPr algn="l">
              <a:lnSpc>
                <a:spcPts val="2107"/>
              </a:lnSpc>
              <a:spcBef>
                <a:spcPct val="0"/>
              </a:spcBef>
            </a:pPr>
            <a:r>
              <a:rPr lang="en-US" b="true" sz="15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"LargestPropertyUseType": "Office", </a:t>
            </a:r>
          </a:p>
          <a:p>
            <a:pPr algn="l">
              <a:lnSpc>
                <a:spcPts val="2107"/>
              </a:lnSpc>
              <a:spcBef>
                <a:spcPct val="0"/>
              </a:spcBef>
            </a:pPr>
            <a:r>
              <a:rPr lang="en-US" b="true" sz="15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"ENERGYSTARScore": "high",                   // ❌ should be an integer between 0–100</a:t>
            </a:r>
          </a:p>
          <a:p>
            <a:pPr algn="l">
              <a:lnSpc>
                <a:spcPts val="2107"/>
              </a:lnSpc>
              <a:spcBef>
                <a:spcPct val="0"/>
              </a:spcBef>
            </a:pPr>
            <a:r>
              <a:rPr lang="en-US" b="true" sz="15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"PropertyGFABuilding_s": 20000,</a:t>
            </a:r>
          </a:p>
          <a:p>
            <a:pPr algn="l">
              <a:lnSpc>
                <a:spcPts val="2107"/>
              </a:lnSpc>
              <a:spcBef>
                <a:spcPct val="0"/>
              </a:spcBef>
            </a:pPr>
            <a:r>
              <a:rPr lang="en-US" b="true" sz="15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"ElectricityRatio": 0.6,</a:t>
            </a:r>
          </a:p>
          <a:p>
            <a:pPr algn="l">
              <a:lnSpc>
                <a:spcPts val="2107"/>
              </a:lnSpc>
              <a:spcBef>
                <a:spcPct val="0"/>
              </a:spcBef>
            </a:pPr>
            <a:r>
              <a:rPr lang="en-US" b="true" sz="15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"SurfacePerBuilding": 18000,</a:t>
            </a:r>
          </a:p>
          <a:p>
            <a:pPr algn="l">
              <a:lnSpc>
                <a:spcPts val="2107"/>
              </a:lnSpc>
              <a:spcBef>
                <a:spcPct val="0"/>
              </a:spcBef>
            </a:pPr>
            <a:r>
              <a:rPr lang="en-US" b="true" sz="15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"building_age": "twenty five",               // ❌ should be an integer</a:t>
            </a:r>
          </a:p>
          <a:p>
            <a:pPr algn="l">
              <a:lnSpc>
                <a:spcPts val="2107"/>
              </a:lnSpc>
              <a:spcBef>
                <a:spcPct val="0"/>
              </a:spcBef>
            </a:pPr>
            <a:r>
              <a:rPr lang="en-US" b="true" sz="15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"NaturalGasRatio": 0.2,</a:t>
            </a:r>
          </a:p>
          <a:p>
            <a:pPr algn="l">
              <a:lnSpc>
                <a:spcPts val="2107"/>
              </a:lnSpc>
              <a:spcBef>
                <a:spcPct val="0"/>
              </a:spcBef>
            </a:pPr>
            <a:r>
              <a:rPr lang="en-US" b="true" sz="15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"SurfacePerFloor": 6000,</a:t>
            </a:r>
          </a:p>
          <a:p>
            <a:pPr algn="l">
              <a:lnSpc>
                <a:spcPts val="2107"/>
              </a:lnSpc>
              <a:spcBef>
                <a:spcPct val="0"/>
              </a:spcBef>
            </a:pPr>
            <a:r>
              <a:rPr lang="en-US" b="true" sz="15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"NumberofFloors": "three",                   // ❌ should be an integer</a:t>
            </a:r>
          </a:p>
          <a:p>
            <a:pPr algn="l">
              <a:lnSpc>
                <a:spcPts val="2107"/>
              </a:lnSpc>
              <a:spcBef>
                <a:spcPct val="0"/>
              </a:spcBef>
            </a:pPr>
            <a:r>
              <a:rPr lang="en-US" b="true" sz="15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"SteamRatio": 0.1</a:t>
            </a:r>
          </a:p>
          <a:p>
            <a:pPr algn="l">
              <a:lnSpc>
                <a:spcPts val="2107"/>
              </a:lnSpc>
              <a:spcBef>
                <a:spcPct val="0"/>
              </a:spcBef>
            </a:pPr>
            <a:r>
              <a:rPr lang="en-US" b="true" sz="15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25491" y="544934"/>
            <a:ext cx="7740402" cy="48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5"/>
              </a:lnSpc>
              <a:spcBef>
                <a:spcPct val="0"/>
              </a:spcBef>
            </a:pPr>
            <a:r>
              <a:rPr lang="en-US" b="true" sz="2704">
                <a:solidFill>
                  <a:srgbClr val="FCBF01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Validation des Entrées – Robustesse de l’API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1385210"/>
            <a:ext cx="8115300" cy="3586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975" indent="-276988" lvl="1">
              <a:lnSpc>
                <a:spcPts val="3592"/>
              </a:lnSpc>
              <a:buFont typeface="Arial"/>
              <a:buChar char="•"/>
            </a:pPr>
            <a:r>
              <a:rPr lang="en-US" b="true" sz="25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  <a:r>
              <a:rPr lang="en-US" b="true" sz="25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 données invalides ont été testées (valeurs textuelles au lieu de numériques).</a:t>
            </a:r>
          </a:p>
          <a:p>
            <a:pPr algn="l">
              <a:lnSpc>
                <a:spcPts val="3592"/>
              </a:lnSpc>
            </a:pPr>
          </a:p>
          <a:p>
            <a:pPr algn="l" marL="553975" indent="-276988" lvl="1">
              <a:lnSpc>
                <a:spcPts val="3592"/>
              </a:lnSpc>
              <a:buFont typeface="Arial"/>
              <a:buChar char="•"/>
            </a:pPr>
            <a:r>
              <a:rPr lang="en-US" b="true" sz="25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L’API a correctement rejeté les entrées avec des messages d’erreur clairs grâce à Pydantic.</a:t>
            </a:r>
          </a:p>
          <a:p>
            <a:pPr algn="l">
              <a:lnSpc>
                <a:spcPts val="3592"/>
              </a:lnSpc>
            </a:pPr>
          </a:p>
          <a:p>
            <a:pPr algn="l" marL="553975" indent="-276988" lvl="1">
              <a:lnSpc>
                <a:spcPts val="3592"/>
              </a:lnSpc>
              <a:buFont typeface="Arial"/>
              <a:buChar char="•"/>
            </a:pPr>
            <a:r>
              <a:rPr lang="en-US" b="true" sz="25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Validation fonctionnelle confirmée.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DAGlMn5lcmw</dc:identifier>
  <dcterms:modified xsi:type="dcterms:W3CDTF">2011-08-01T06:04:30Z</dcterms:modified>
  <cp:revision>1</cp:revision>
  <dc:title>project 6- Prédisez la consommation d'énergie des bâtiments</dc:title>
</cp:coreProperties>
</file>